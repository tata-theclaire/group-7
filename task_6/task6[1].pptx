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52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9553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693664"/>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Mobile Attendance Management System</a:t>
            </a:r>
            <a:endParaRPr lang="en-US" sz="4450" dirty="0"/>
          </a:p>
        </p:txBody>
      </p:sp>
      <p:sp>
        <p:nvSpPr>
          <p:cNvPr id="4" name="Text 1"/>
          <p:cNvSpPr/>
          <p:nvPr/>
        </p:nvSpPr>
        <p:spPr>
          <a:xfrm>
            <a:off x="793790" y="3451384"/>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This report provides a comprehensive overview of the database design and implementation for a mobile attendance management system. It integrates facial recognition, geofencing, and real-time session management to ensure accuracy and efficiency in tracking attendance.</a:t>
            </a:r>
            <a:endParaRPr lang="en-US" sz="1750" dirty="0"/>
          </a:p>
        </p:txBody>
      </p:sp>
      <p:sp>
        <p:nvSpPr>
          <p:cNvPr id="5" name="Text 2"/>
          <p:cNvSpPr/>
          <p:nvPr/>
        </p:nvSpPr>
        <p:spPr>
          <a:xfrm>
            <a:off x="793790" y="5158145"/>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Presented by Group 7 for CEF440: Internet Programming and Mobile Programming, instructed by Dr. Nkemeni Valery.</a:t>
            </a:r>
            <a:endParaRPr lang="en-US" sz="1750" dirty="0"/>
          </a:p>
        </p:txBody>
      </p:sp>
      <p:sp>
        <p:nvSpPr>
          <p:cNvPr id="6" name="Shape 3"/>
          <p:cNvSpPr/>
          <p:nvPr/>
        </p:nvSpPr>
        <p:spPr>
          <a:xfrm>
            <a:off x="793790" y="6156008"/>
            <a:ext cx="362903" cy="362903"/>
          </a:xfrm>
          <a:prstGeom prst="roundRect">
            <a:avLst>
              <a:gd name="adj" fmla="val 25194296"/>
            </a:avLst>
          </a:prstGeom>
          <a:noFill/>
          <a:ln w="762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1403" y="762000"/>
            <a:ext cx="7818596" cy="670917"/>
          </a:xfrm>
          <a:prstGeom prst="rect">
            <a:avLst/>
          </a:prstGeom>
          <a:noFill/>
          <a:ln/>
        </p:spPr>
        <p:txBody>
          <a:bodyPr wrap="none" lIns="0" tIns="0" rIns="0" bIns="0" rtlCol="0" anchor="t"/>
          <a:lstStyle/>
          <a:p>
            <a:pPr marL="0" indent="0" algn="l">
              <a:lnSpc>
                <a:spcPts val="5250"/>
              </a:lnSpc>
              <a:buNone/>
            </a:pPr>
            <a:r>
              <a:rPr lang="en-US" sz="4200" dirty="0">
                <a:solidFill>
                  <a:srgbClr val="373B48"/>
                </a:solidFill>
                <a:latin typeface="Mona Sans Semi Bold" pitchFamily="34" charset="0"/>
                <a:ea typeface="Mona Sans Semi Bold" pitchFamily="34" charset="-122"/>
                <a:cs typeface="Mona Sans Semi Bold" pitchFamily="34" charset="-120"/>
              </a:rPr>
              <a:t>Understanding Data Elements</a:t>
            </a:r>
            <a:endParaRPr lang="en-US" sz="4200" dirty="0"/>
          </a:p>
        </p:txBody>
      </p:sp>
      <p:sp>
        <p:nvSpPr>
          <p:cNvPr id="3" name="Text 1"/>
          <p:cNvSpPr/>
          <p:nvPr/>
        </p:nvSpPr>
        <p:spPr>
          <a:xfrm>
            <a:off x="751403" y="1862257"/>
            <a:ext cx="13127593" cy="686752"/>
          </a:xfrm>
          <a:prstGeom prst="rect">
            <a:avLst/>
          </a:prstGeom>
          <a:noFill/>
          <a:ln/>
        </p:spPr>
        <p:txBody>
          <a:bodyPr wrap="square" lIns="0" tIns="0" rIns="0" bIns="0" rtlCol="0" anchor="t"/>
          <a:lstStyle/>
          <a:p>
            <a:pPr marL="0" indent="0" algn="l">
              <a:lnSpc>
                <a:spcPts val="2700"/>
              </a:lnSpc>
              <a:buNone/>
            </a:pPr>
            <a:r>
              <a:rPr lang="en-US" sz="1650" dirty="0">
                <a:solidFill>
                  <a:srgbClr val="52586B"/>
                </a:solidFill>
                <a:latin typeface="Funnel Sans" pitchFamily="34" charset="0"/>
                <a:ea typeface="Funnel Sans" pitchFamily="34" charset="-122"/>
                <a:cs typeface="Funnel Sans" pitchFamily="34" charset="-120"/>
              </a:rPr>
              <a:t>A data element is a fundamental unit representing a specific piece of information, serving as a container for a single data item like a name or date. Each element has a unique purpose within the application, representing an attribute of an entity in the database.</a:t>
            </a:r>
            <a:endParaRPr lang="en-US" sz="1650" dirty="0"/>
          </a:p>
        </p:txBody>
      </p:sp>
      <p:sp>
        <p:nvSpPr>
          <p:cNvPr id="4" name="Text 2"/>
          <p:cNvSpPr/>
          <p:nvPr/>
        </p:nvSpPr>
        <p:spPr>
          <a:xfrm>
            <a:off x="751403" y="2790468"/>
            <a:ext cx="13127593" cy="1030129"/>
          </a:xfrm>
          <a:prstGeom prst="rect">
            <a:avLst/>
          </a:prstGeom>
          <a:noFill/>
          <a:ln/>
        </p:spPr>
        <p:txBody>
          <a:bodyPr wrap="square" lIns="0" tIns="0" rIns="0" bIns="0" rtlCol="0" anchor="t"/>
          <a:lstStyle/>
          <a:p>
            <a:pPr marL="0" indent="0" algn="l">
              <a:lnSpc>
                <a:spcPts val="2700"/>
              </a:lnSpc>
              <a:buNone/>
            </a:pPr>
            <a:r>
              <a:rPr lang="en-US" sz="1650" dirty="0">
                <a:solidFill>
                  <a:srgbClr val="52586B"/>
                </a:solidFill>
                <a:latin typeface="Funnel Sans" pitchFamily="34" charset="0"/>
                <a:ea typeface="Funnel Sans" pitchFamily="34" charset="-122"/>
                <a:cs typeface="Funnel Sans" pitchFamily="34" charset="-120"/>
              </a:rPr>
              <a:t>Key aspects include data type, uniqueness, functional relevance, and importance. Data elements ensure integrity and consistency by defining types and constraints, preventing incorrect or ambiguous data storage. They are crucial for efficient data management and application functionality.</a:t>
            </a:r>
            <a:endParaRPr lang="en-US" sz="1650" dirty="0"/>
          </a:p>
        </p:txBody>
      </p:sp>
      <p:sp>
        <p:nvSpPr>
          <p:cNvPr id="5" name="Shape 3"/>
          <p:cNvSpPr/>
          <p:nvPr/>
        </p:nvSpPr>
        <p:spPr>
          <a:xfrm>
            <a:off x="751403" y="4062055"/>
            <a:ext cx="6456521" cy="1595438"/>
          </a:xfrm>
          <a:prstGeom prst="roundRect">
            <a:avLst>
              <a:gd name="adj" fmla="val 5652"/>
            </a:avLst>
          </a:prstGeom>
          <a:solidFill>
            <a:srgbClr val="E2E4E9"/>
          </a:solidFill>
          <a:ln w="7620">
            <a:solidFill>
              <a:srgbClr val="C8CACF"/>
            </a:solidFill>
            <a:prstDash val="solid"/>
          </a:ln>
        </p:spPr>
      </p:sp>
      <p:sp>
        <p:nvSpPr>
          <p:cNvPr id="6" name="Text 4"/>
          <p:cNvSpPr/>
          <p:nvPr/>
        </p:nvSpPr>
        <p:spPr>
          <a:xfrm>
            <a:off x="973693" y="4284345"/>
            <a:ext cx="2683669" cy="335399"/>
          </a:xfrm>
          <a:prstGeom prst="rect">
            <a:avLst/>
          </a:prstGeom>
          <a:noFill/>
          <a:ln/>
        </p:spPr>
        <p:txBody>
          <a:bodyPr wrap="none" lIns="0" tIns="0" rIns="0" bIns="0" rtlCol="0" anchor="t"/>
          <a:lstStyle/>
          <a:p>
            <a:pPr marL="0" indent="0" algn="l">
              <a:lnSpc>
                <a:spcPts val="2600"/>
              </a:lnSpc>
              <a:buNone/>
            </a:pPr>
            <a:r>
              <a:rPr lang="en-US" sz="2100" dirty="0">
                <a:solidFill>
                  <a:srgbClr val="52586B"/>
                </a:solidFill>
                <a:latin typeface="Mona Sans Semi Bold" pitchFamily="34" charset="0"/>
                <a:ea typeface="Mona Sans Semi Bold" pitchFamily="34" charset="-122"/>
                <a:cs typeface="Mona Sans Semi Bold" pitchFamily="34" charset="-120"/>
              </a:rPr>
              <a:t>Data Type</a:t>
            </a:r>
            <a:endParaRPr lang="en-US" sz="2100" dirty="0"/>
          </a:p>
        </p:txBody>
      </p:sp>
      <p:sp>
        <p:nvSpPr>
          <p:cNvPr id="7" name="Text 5"/>
          <p:cNvSpPr/>
          <p:nvPr/>
        </p:nvSpPr>
        <p:spPr>
          <a:xfrm>
            <a:off x="973693" y="4748451"/>
            <a:ext cx="6011942" cy="686752"/>
          </a:xfrm>
          <a:prstGeom prst="rect">
            <a:avLst/>
          </a:prstGeom>
          <a:noFill/>
          <a:ln/>
        </p:spPr>
        <p:txBody>
          <a:bodyPr wrap="square" lIns="0" tIns="0" rIns="0" bIns="0" rtlCol="0" anchor="t"/>
          <a:lstStyle/>
          <a:p>
            <a:pPr marL="0" indent="0" algn="l">
              <a:lnSpc>
                <a:spcPts val="2700"/>
              </a:lnSpc>
              <a:buNone/>
            </a:pPr>
            <a:r>
              <a:rPr lang="en-US" sz="1650" dirty="0">
                <a:solidFill>
                  <a:srgbClr val="52586B"/>
                </a:solidFill>
                <a:latin typeface="Funnel Sans" pitchFamily="34" charset="0"/>
                <a:ea typeface="Funnel Sans" pitchFamily="34" charset="-122"/>
                <a:cs typeface="Funnel Sans" pitchFamily="34" charset="-120"/>
              </a:rPr>
              <a:t>Determines the kind of values a data element can hold (e.g., integer, string, date).</a:t>
            </a:r>
            <a:endParaRPr lang="en-US" sz="1650" dirty="0"/>
          </a:p>
        </p:txBody>
      </p:sp>
      <p:sp>
        <p:nvSpPr>
          <p:cNvPr id="8" name="Shape 6"/>
          <p:cNvSpPr/>
          <p:nvPr/>
        </p:nvSpPr>
        <p:spPr>
          <a:xfrm>
            <a:off x="7422594" y="4062055"/>
            <a:ext cx="6456521" cy="1595438"/>
          </a:xfrm>
          <a:prstGeom prst="roundRect">
            <a:avLst>
              <a:gd name="adj" fmla="val 5652"/>
            </a:avLst>
          </a:prstGeom>
          <a:solidFill>
            <a:srgbClr val="E2E4E9"/>
          </a:solidFill>
          <a:ln w="7620">
            <a:solidFill>
              <a:srgbClr val="C8CACF"/>
            </a:solidFill>
            <a:prstDash val="solid"/>
          </a:ln>
        </p:spPr>
      </p:sp>
      <p:sp>
        <p:nvSpPr>
          <p:cNvPr id="9" name="Text 7"/>
          <p:cNvSpPr/>
          <p:nvPr/>
        </p:nvSpPr>
        <p:spPr>
          <a:xfrm>
            <a:off x="7644884" y="4284345"/>
            <a:ext cx="2683669" cy="335399"/>
          </a:xfrm>
          <a:prstGeom prst="rect">
            <a:avLst/>
          </a:prstGeom>
          <a:noFill/>
          <a:ln/>
        </p:spPr>
        <p:txBody>
          <a:bodyPr wrap="none" lIns="0" tIns="0" rIns="0" bIns="0" rtlCol="0" anchor="t"/>
          <a:lstStyle/>
          <a:p>
            <a:pPr marL="0" indent="0" algn="l">
              <a:lnSpc>
                <a:spcPts val="2600"/>
              </a:lnSpc>
              <a:buNone/>
            </a:pPr>
            <a:r>
              <a:rPr lang="en-US" sz="2100" dirty="0">
                <a:solidFill>
                  <a:srgbClr val="52586B"/>
                </a:solidFill>
                <a:latin typeface="Mona Sans Semi Bold" pitchFamily="34" charset="0"/>
                <a:ea typeface="Mona Sans Semi Bold" pitchFamily="34" charset="-122"/>
                <a:cs typeface="Mona Sans Semi Bold" pitchFamily="34" charset="-120"/>
              </a:rPr>
              <a:t>Uniqueness</a:t>
            </a:r>
            <a:endParaRPr lang="en-US" sz="2100" dirty="0"/>
          </a:p>
        </p:txBody>
      </p:sp>
      <p:sp>
        <p:nvSpPr>
          <p:cNvPr id="10" name="Text 8"/>
          <p:cNvSpPr/>
          <p:nvPr/>
        </p:nvSpPr>
        <p:spPr>
          <a:xfrm>
            <a:off x="7644884" y="4748451"/>
            <a:ext cx="6011942" cy="686752"/>
          </a:xfrm>
          <a:prstGeom prst="rect">
            <a:avLst/>
          </a:prstGeom>
          <a:noFill/>
          <a:ln/>
        </p:spPr>
        <p:txBody>
          <a:bodyPr wrap="square" lIns="0" tIns="0" rIns="0" bIns="0" rtlCol="0" anchor="t"/>
          <a:lstStyle/>
          <a:p>
            <a:pPr marL="0" indent="0" algn="l">
              <a:lnSpc>
                <a:spcPts val="2700"/>
              </a:lnSpc>
              <a:buNone/>
            </a:pPr>
            <a:r>
              <a:rPr lang="en-US" sz="1650" dirty="0">
                <a:solidFill>
                  <a:srgbClr val="52586B"/>
                </a:solidFill>
                <a:latin typeface="Funnel Sans" pitchFamily="34" charset="0"/>
                <a:ea typeface="Funnel Sans" pitchFamily="34" charset="-122"/>
                <a:cs typeface="Funnel Sans" pitchFamily="34" charset="-120"/>
              </a:rPr>
              <a:t>Ensures each piece of information is uniquely identifiable and manageable.</a:t>
            </a:r>
            <a:endParaRPr lang="en-US" sz="1650" dirty="0"/>
          </a:p>
        </p:txBody>
      </p:sp>
      <p:sp>
        <p:nvSpPr>
          <p:cNvPr id="11" name="Shape 9"/>
          <p:cNvSpPr/>
          <p:nvPr/>
        </p:nvSpPr>
        <p:spPr>
          <a:xfrm>
            <a:off x="751403" y="5872163"/>
            <a:ext cx="6456521" cy="1595438"/>
          </a:xfrm>
          <a:prstGeom prst="roundRect">
            <a:avLst>
              <a:gd name="adj" fmla="val 5652"/>
            </a:avLst>
          </a:prstGeom>
          <a:solidFill>
            <a:srgbClr val="E2E4E9"/>
          </a:solidFill>
          <a:ln w="7620">
            <a:solidFill>
              <a:srgbClr val="C8CACF"/>
            </a:solidFill>
            <a:prstDash val="solid"/>
          </a:ln>
        </p:spPr>
      </p:sp>
      <p:sp>
        <p:nvSpPr>
          <p:cNvPr id="12" name="Text 10"/>
          <p:cNvSpPr/>
          <p:nvPr/>
        </p:nvSpPr>
        <p:spPr>
          <a:xfrm>
            <a:off x="973693" y="6094452"/>
            <a:ext cx="2683669" cy="335399"/>
          </a:xfrm>
          <a:prstGeom prst="rect">
            <a:avLst/>
          </a:prstGeom>
          <a:noFill/>
          <a:ln/>
        </p:spPr>
        <p:txBody>
          <a:bodyPr wrap="none" lIns="0" tIns="0" rIns="0" bIns="0" rtlCol="0" anchor="t"/>
          <a:lstStyle/>
          <a:p>
            <a:pPr marL="0" indent="0" algn="l">
              <a:lnSpc>
                <a:spcPts val="2600"/>
              </a:lnSpc>
              <a:buNone/>
            </a:pPr>
            <a:r>
              <a:rPr lang="en-US" sz="2100" dirty="0">
                <a:solidFill>
                  <a:srgbClr val="52586B"/>
                </a:solidFill>
                <a:latin typeface="Mona Sans Semi Bold" pitchFamily="34" charset="0"/>
                <a:ea typeface="Mona Sans Semi Bold" pitchFamily="34" charset="-122"/>
                <a:cs typeface="Mona Sans Semi Bold" pitchFamily="34" charset="-120"/>
              </a:rPr>
              <a:t>Data Integrity</a:t>
            </a:r>
            <a:endParaRPr lang="en-US" sz="2100" dirty="0"/>
          </a:p>
        </p:txBody>
      </p:sp>
      <p:sp>
        <p:nvSpPr>
          <p:cNvPr id="13" name="Text 11"/>
          <p:cNvSpPr/>
          <p:nvPr/>
        </p:nvSpPr>
        <p:spPr>
          <a:xfrm>
            <a:off x="973693" y="6558558"/>
            <a:ext cx="6011942" cy="686752"/>
          </a:xfrm>
          <a:prstGeom prst="rect">
            <a:avLst/>
          </a:prstGeom>
          <a:noFill/>
          <a:ln/>
        </p:spPr>
        <p:txBody>
          <a:bodyPr wrap="square" lIns="0" tIns="0" rIns="0" bIns="0" rtlCol="0" anchor="t"/>
          <a:lstStyle/>
          <a:p>
            <a:pPr marL="0" indent="0" algn="l">
              <a:lnSpc>
                <a:spcPts val="2700"/>
              </a:lnSpc>
              <a:buNone/>
            </a:pPr>
            <a:r>
              <a:rPr lang="en-US" sz="1650" dirty="0">
                <a:solidFill>
                  <a:srgbClr val="52586B"/>
                </a:solidFill>
                <a:latin typeface="Funnel Sans" pitchFamily="34" charset="0"/>
                <a:ea typeface="Funnel Sans" pitchFamily="34" charset="-122"/>
                <a:cs typeface="Funnel Sans" pitchFamily="34" charset="-120"/>
              </a:rPr>
              <a:t>Helps prevent incorrect or inconsistent data through defined types and constraints.</a:t>
            </a:r>
            <a:endParaRPr lang="en-US" sz="1650" dirty="0"/>
          </a:p>
        </p:txBody>
      </p:sp>
      <p:sp>
        <p:nvSpPr>
          <p:cNvPr id="14" name="Shape 12"/>
          <p:cNvSpPr/>
          <p:nvPr/>
        </p:nvSpPr>
        <p:spPr>
          <a:xfrm>
            <a:off x="7422594" y="5872163"/>
            <a:ext cx="6456521" cy="1595438"/>
          </a:xfrm>
          <a:prstGeom prst="roundRect">
            <a:avLst>
              <a:gd name="adj" fmla="val 5652"/>
            </a:avLst>
          </a:prstGeom>
          <a:solidFill>
            <a:srgbClr val="E2E4E9"/>
          </a:solidFill>
          <a:ln w="7620">
            <a:solidFill>
              <a:srgbClr val="C8CACF"/>
            </a:solidFill>
            <a:prstDash val="solid"/>
          </a:ln>
        </p:spPr>
      </p:sp>
      <p:sp>
        <p:nvSpPr>
          <p:cNvPr id="15" name="Text 13"/>
          <p:cNvSpPr/>
          <p:nvPr/>
        </p:nvSpPr>
        <p:spPr>
          <a:xfrm>
            <a:off x="7644884" y="6094452"/>
            <a:ext cx="3267194" cy="335399"/>
          </a:xfrm>
          <a:prstGeom prst="rect">
            <a:avLst/>
          </a:prstGeom>
          <a:noFill/>
          <a:ln/>
        </p:spPr>
        <p:txBody>
          <a:bodyPr wrap="none" lIns="0" tIns="0" rIns="0" bIns="0" rtlCol="0" anchor="t"/>
          <a:lstStyle/>
          <a:p>
            <a:pPr marL="0" indent="0" algn="l">
              <a:lnSpc>
                <a:spcPts val="2600"/>
              </a:lnSpc>
              <a:buNone/>
            </a:pPr>
            <a:r>
              <a:rPr lang="en-US" sz="2100" dirty="0">
                <a:solidFill>
                  <a:srgbClr val="52586B"/>
                </a:solidFill>
                <a:latin typeface="Mona Sans Semi Bold" pitchFamily="34" charset="0"/>
                <a:ea typeface="Mona Sans Semi Bold" pitchFamily="34" charset="-122"/>
                <a:cs typeface="Mona Sans Semi Bold" pitchFamily="34" charset="-120"/>
              </a:rPr>
              <a:t>Application Functionality</a:t>
            </a:r>
            <a:endParaRPr lang="en-US" sz="2100" dirty="0"/>
          </a:p>
        </p:txBody>
      </p:sp>
      <p:sp>
        <p:nvSpPr>
          <p:cNvPr id="16" name="Text 14"/>
          <p:cNvSpPr/>
          <p:nvPr/>
        </p:nvSpPr>
        <p:spPr>
          <a:xfrm>
            <a:off x="7644884" y="6558558"/>
            <a:ext cx="6011942" cy="686752"/>
          </a:xfrm>
          <a:prstGeom prst="rect">
            <a:avLst/>
          </a:prstGeom>
          <a:noFill/>
          <a:ln/>
        </p:spPr>
        <p:txBody>
          <a:bodyPr wrap="square" lIns="0" tIns="0" rIns="0" bIns="0" rtlCol="0" anchor="t"/>
          <a:lstStyle/>
          <a:p>
            <a:pPr marL="0" indent="0" algn="l">
              <a:lnSpc>
                <a:spcPts val="2700"/>
              </a:lnSpc>
              <a:buNone/>
            </a:pPr>
            <a:r>
              <a:rPr lang="en-US" sz="1650" dirty="0">
                <a:solidFill>
                  <a:srgbClr val="52586B"/>
                </a:solidFill>
                <a:latin typeface="Funnel Sans" pitchFamily="34" charset="0"/>
                <a:ea typeface="Funnel Sans" pitchFamily="34" charset="-122"/>
                <a:cs typeface="Funnel Sans" pitchFamily="34" charset="-120"/>
              </a:rPr>
              <a:t>Crucial for the application to perform its tasks by representing essential information.</a:t>
            </a:r>
            <a:endParaRPr lang="en-US" sz="1650" dirty="0"/>
          </a:p>
        </p:txBody>
      </p:sp>
      <p:sp>
        <p:nvSpPr>
          <p:cNvPr id="18" name="TextBox 17">
            <a:extLst>
              <a:ext uri="{FF2B5EF4-FFF2-40B4-BE49-F238E27FC236}">
                <a16:creationId xmlns:a16="http://schemas.microsoft.com/office/drawing/2014/main" id="{31776A1D-7F8E-4C0D-94A6-EC3FE9AD366C}"/>
              </a:ext>
            </a:extLst>
          </p:cNvPr>
          <p:cNvSpPr txBox="1"/>
          <p:nvPr/>
        </p:nvSpPr>
        <p:spPr>
          <a:xfrm>
            <a:off x="12780335" y="7676707"/>
            <a:ext cx="1775637" cy="477289"/>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80415" y="856893"/>
            <a:ext cx="5451277" cy="619720"/>
          </a:xfrm>
          <a:prstGeom prst="rect">
            <a:avLst/>
          </a:prstGeom>
          <a:noFill/>
          <a:ln/>
        </p:spPr>
        <p:txBody>
          <a:bodyPr wrap="none" lIns="0" tIns="0" rIns="0" bIns="0" rtlCol="0" anchor="t"/>
          <a:lstStyle/>
          <a:p>
            <a:pPr marL="0" indent="0" algn="l">
              <a:lnSpc>
                <a:spcPts val="4850"/>
              </a:lnSpc>
              <a:buNone/>
            </a:pPr>
            <a:r>
              <a:rPr lang="en-US" sz="3900" dirty="0">
                <a:solidFill>
                  <a:srgbClr val="373B48"/>
                </a:solidFill>
                <a:latin typeface="Mona Sans Semi Bold" pitchFamily="34" charset="0"/>
                <a:ea typeface="Mona Sans Semi Bold" pitchFamily="34" charset="-122"/>
                <a:cs typeface="Mona Sans Semi Bold" pitchFamily="34" charset="-120"/>
              </a:rPr>
              <a:t>System Data Elements</a:t>
            </a:r>
            <a:endParaRPr lang="en-US" sz="3900" dirty="0"/>
          </a:p>
        </p:txBody>
      </p:sp>
      <p:sp>
        <p:nvSpPr>
          <p:cNvPr id="4" name="Text 1"/>
          <p:cNvSpPr/>
          <p:nvPr/>
        </p:nvSpPr>
        <p:spPr>
          <a:xfrm>
            <a:off x="6180415" y="1774031"/>
            <a:ext cx="7755969" cy="951905"/>
          </a:xfrm>
          <a:prstGeom prst="rect">
            <a:avLst/>
          </a:prstGeom>
          <a:noFill/>
          <a:ln/>
        </p:spPr>
        <p:txBody>
          <a:bodyPr wrap="square" lIns="0" tIns="0" rIns="0" bIns="0" rtlCol="0" anchor="t"/>
          <a:lstStyle/>
          <a:p>
            <a:pPr marL="0" indent="0" algn="l">
              <a:lnSpc>
                <a:spcPts val="2450"/>
              </a:lnSpc>
              <a:buNone/>
            </a:pPr>
            <a:r>
              <a:rPr lang="en-US" sz="1550" dirty="0">
                <a:solidFill>
                  <a:srgbClr val="52586B"/>
                </a:solidFill>
                <a:latin typeface="Funnel Sans" pitchFamily="34" charset="0"/>
                <a:ea typeface="Funnel Sans" pitchFamily="34" charset="-122"/>
                <a:cs typeface="Funnel Sans" pitchFamily="34" charset="-120"/>
              </a:rPr>
              <a:t>The system utilizes specific data elements for each actor: students, lecturers, and administrators. These elements define the information each actor operates with, ensuring proper identification, authentication, and management within the system.</a:t>
            </a:r>
            <a:endParaRPr lang="en-US" sz="1550" dirty="0"/>
          </a:p>
        </p:txBody>
      </p:sp>
      <p:sp>
        <p:nvSpPr>
          <p:cNvPr id="5" name="Text 2"/>
          <p:cNvSpPr/>
          <p:nvPr/>
        </p:nvSpPr>
        <p:spPr>
          <a:xfrm>
            <a:off x="6180415" y="2948940"/>
            <a:ext cx="7755969" cy="951905"/>
          </a:xfrm>
          <a:prstGeom prst="rect">
            <a:avLst/>
          </a:prstGeom>
          <a:noFill/>
          <a:ln/>
        </p:spPr>
        <p:txBody>
          <a:bodyPr wrap="square" lIns="0" tIns="0" rIns="0" bIns="0" rtlCol="0" anchor="t"/>
          <a:lstStyle/>
          <a:p>
            <a:pPr marL="0" indent="0" algn="l">
              <a:lnSpc>
                <a:spcPts val="2450"/>
              </a:lnSpc>
              <a:buNone/>
            </a:pPr>
            <a:r>
              <a:rPr lang="en-US" sz="1550" dirty="0">
                <a:solidFill>
                  <a:srgbClr val="52586B"/>
                </a:solidFill>
                <a:latin typeface="Funnel Sans" pitchFamily="34" charset="0"/>
                <a:ea typeface="Funnel Sans" pitchFamily="34" charset="-122"/>
                <a:cs typeface="Funnel Sans" pitchFamily="34" charset="-120"/>
              </a:rPr>
              <a:t>Beyond actor-specific data, the database also includes system-level data elements like primary keys for unique identification and foreign keys for table interconnections, along with additional information such as dates, timeframes, and hall names.</a:t>
            </a:r>
            <a:endParaRPr lang="en-US" sz="1550" dirty="0"/>
          </a:p>
        </p:txBody>
      </p:sp>
      <p:sp>
        <p:nvSpPr>
          <p:cNvPr id="6" name="Shape 3"/>
          <p:cNvSpPr/>
          <p:nvPr/>
        </p:nvSpPr>
        <p:spPr>
          <a:xfrm>
            <a:off x="6180415" y="4123849"/>
            <a:ext cx="7755969" cy="3248858"/>
          </a:xfrm>
          <a:prstGeom prst="roundRect">
            <a:avLst>
              <a:gd name="adj" fmla="val 2564"/>
            </a:avLst>
          </a:prstGeom>
          <a:noFill/>
          <a:ln w="7620">
            <a:solidFill>
              <a:srgbClr val="000000">
                <a:alpha val="8000"/>
              </a:srgbClr>
            </a:solidFill>
            <a:prstDash val="solid"/>
          </a:ln>
        </p:spPr>
      </p:sp>
      <p:sp>
        <p:nvSpPr>
          <p:cNvPr id="7" name="Shape 4"/>
          <p:cNvSpPr/>
          <p:nvPr/>
        </p:nvSpPr>
        <p:spPr>
          <a:xfrm>
            <a:off x="6188035" y="4131469"/>
            <a:ext cx="7739896" cy="570428"/>
          </a:xfrm>
          <a:prstGeom prst="rect">
            <a:avLst/>
          </a:prstGeom>
          <a:solidFill>
            <a:srgbClr val="FFFFFF">
              <a:alpha val="4000"/>
            </a:srgbClr>
          </a:solidFill>
          <a:ln/>
        </p:spPr>
      </p:sp>
      <p:sp>
        <p:nvSpPr>
          <p:cNvPr id="8" name="Text 5"/>
          <p:cNvSpPr/>
          <p:nvPr/>
        </p:nvSpPr>
        <p:spPr>
          <a:xfrm>
            <a:off x="6387346" y="4258032"/>
            <a:ext cx="2179320" cy="317302"/>
          </a:xfrm>
          <a:prstGeom prst="rect">
            <a:avLst/>
          </a:prstGeom>
          <a:noFill/>
          <a:ln/>
        </p:spPr>
        <p:txBody>
          <a:bodyPr wrap="none" lIns="0" tIns="0" rIns="0" bIns="0" rtlCol="0" anchor="t"/>
          <a:lstStyle/>
          <a:p>
            <a:pPr marL="0" indent="0" algn="l">
              <a:lnSpc>
                <a:spcPts val="2450"/>
              </a:lnSpc>
              <a:buNone/>
            </a:pPr>
            <a:r>
              <a:rPr lang="en-US" sz="1550" b="1" dirty="0">
                <a:solidFill>
                  <a:srgbClr val="52586B"/>
                </a:solidFill>
                <a:latin typeface="Funnel Sans" pitchFamily="34" charset="0"/>
                <a:ea typeface="Funnel Sans" pitchFamily="34" charset="-122"/>
                <a:cs typeface="Funnel Sans" pitchFamily="34" charset="-120"/>
              </a:rPr>
              <a:t>Actor</a:t>
            </a:r>
            <a:endParaRPr lang="en-US" sz="1550" dirty="0"/>
          </a:p>
        </p:txBody>
      </p:sp>
      <p:sp>
        <p:nvSpPr>
          <p:cNvPr id="9" name="Text 6"/>
          <p:cNvSpPr/>
          <p:nvPr/>
        </p:nvSpPr>
        <p:spPr>
          <a:xfrm>
            <a:off x="8970764" y="4258032"/>
            <a:ext cx="2175510" cy="317302"/>
          </a:xfrm>
          <a:prstGeom prst="rect">
            <a:avLst/>
          </a:prstGeom>
          <a:noFill/>
          <a:ln/>
        </p:spPr>
        <p:txBody>
          <a:bodyPr wrap="none" lIns="0" tIns="0" rIns="0" bIns="0" rtlCol="0" anchor="t"/>
          <a:lstStyle/>
          <a:p>
            <a:pPr marL="0" indent="0" algn="l">
              <a:lnSpc>
                <a:spcPts val="2450"/>
              </a:lnSpc>
              <a:buNone/>
            </a:pPr>
            <a:r>
              <a:rPr lang="en-US" sz="1550" b="1" dirty="0">
                <a:solidFill>
                  <a:srgbClr val="52586B"/>
                </a:solidFill>
                <a:latin typeface="Funnel Sans" pitchFamily="34" charset="0"/>
                <a:ea typeface="Funnel Sans" pitchFamily="34" charset="-122"/>
                <a:cs typeface="Funnel Sans" pitchFamily="34" charset="-120"/>
              </a:rPr>
              <a:t>Key Data Elements</a:t>
            </a:r>
            <a:endParaRPr lang="en-US" sz="1550" dirty="0"/>
          </a:p>
        </p:txBody>
      </p:sp>
      <p:sp>
        <p:nvSpPr>
          <p:cNvPr id="10" name="Text 7"/>
          <p:cNvSpPr/>
          <p:nvPr/>
        </p:nvSpPr>
        <p:spPr>
          <a:xfrm>
            <a:off x="11550372" y="4258032"/>
            <a:ext cx="2179320" cy="317302"/>
          </a:xfrm>
          <a:prstGeom prst="rect">
            <a:avLst/>
          </a:prstGeom>
          <a:noFill/>
          <a:ln/>
        </p:spPr>
        <p:txBody>
          <a:bodyPr wrap="none" lIns="0" tIns="0" rIns="0" bIns="0" rtlCol="0" anchor="t"/>
          <a:lstStyle/>
          <a:p>
            <a:pPr marL="0" indent="0" algn="l">
              <a:lnSpc>
                <a:spcPts val="2450"/>
              </a:lnSpc>
              <a:buNone/>
            </a:pPr>
            <a:r>
              <a:rPr lang="en-US" sz="1550" b="1" dirty="0">
                <a:solidFill>
                  <a:srgbClr val="52586B"/>
                </a:solidFill>
                <a:latin typeface="Funnel Sans" pitchFamily="34" charset="0"/>
                <a:ea typeface="Funnel Sans" pitchFamily="34" charset="-122"/>
                <a:cs typeface="Funnel Sans" pitchFamily="34" charset="-120"/>
              </a:rPr>
              <a:t>Uniqueness</a:t>
            </a:r>
            <a:endParaRPr lang="en-US" sz="1550" dirty="0"/>
          </a:p>
        </p:txBody>
      </p:sp>
      <p:sp>
        <p:nvSpPr>
          <p:cNvPr id="11" name="Shape 8"/>
          <p:cNvSpPr/>
          <p:nvPr/>
        </p:nvSpPr>
        <p:spPr>
          <a:xfrm>
            <a:off x="6188035" y="4701897"/>
            <a:ext cx="7739896" cy="887730"/>
          </a:xfrm>
          <a:prstGeom prst="rect">
            <a:avLst/>
          </a:prstGeom>
          <a:solidFill>
            <a:srgbClr val="000000">
              <a:alpha val="4000"/>
            </a:srgbClr>
          </a:solidFill>
          <a:ln/>
        </p:spPr>
      </p:sp>
      <p:sp>
        <p:nvSpPr>
          <p:cNvPr id="12" name="Text 9"/>
          <p:cNvSpPr/>
          <p:nvPr/>
        </p:nvSpPr>
        <p:spPr>
          <a:xfrm>
            <a:off x="6387346" y="4828461"/>
            <a:ext cx="2179320" cy="317302"/>
          </a:xfrm>
          <a:prstGeom prst="rect">
            <a:avLst/>
          </a:prstGeom>
          <a:noFill/>
          <a:ln/>
        </p:spPr>
        <p:txBody>
          <a:bodyPr wrap="none" lIns="0" tIns="0" rIns="0" bIns="0" rtlCol="0" anchor="t"/>
          <a:lstStyle/>
          <a:p>
            <a:pPr marL="0" indent="0" algn="l">
              <a:lnSpc>
                <a:spcPts val="2450"/>
              </a:lnSpc>
              <a:buNone/>
            </a:pPr>
            <a:r>
              <a:rPr lang="en-US" sz="1550" dirty="0">
                <a:solidFill>
                  <a:srgbClr val="52586B"/>
                </a:solidFill>
                <a:latin typeface="Funnel Sans" pitchFamily="34" charset="0"/>
                <a:ea typeface="Funnel Sans" pitchFamily="34" charset="-122"/>
                <a:cs typeface="Funnel Sans" pitchFamily="34" charset="-120"/>
              </a:rPr>
              <a:t>Student</a:t>
            </a:r>
            <a:endParaRPr lang="en-US" sz="1550" dirty="0"/>
          </a:p>
        </p:txBody>
      </p:sp>
      <p:sp>
        <p:nvSpPr>
          <p:cNvPr id="13" name="Text 10"/>
          <p:cNvSpPr/>
          <p:nvPr/>
        </p:nvSpPr>
        <p:spPr>
          <a:xfrm>
            <a:off x="8970764" y="4828461"/>
            <a:ext cx="2175510" cy="634603"/>
          </a:xfrm>
          <a:prstGeom prst="rect">
            <a:avLst/>
          </a:prstGeom>
          <a:noFill/>
          <a:ln/>
        </p:spPr>
        <p:txBody>
          <a:bodyPr wrap="square" lIns="0" tIns="0" rIns="0" bIns="0" rtlCol="0" anchor="t"/>
          <a:lstStyle/>
          <a:p>
            <a:pPr marL="0" indent="0" algn="l">
              <a:lnSpc>
                <a:spcPts val="2450"/>
              </a:lnSpc>
              <a:buNone/>
            </a:pPr>
            <a:r>
              <a:rPr lang="en-US" sz="1550" dirty="0">
                <a:solidFill>
                  <a:srgbClr val="52586B"/>
                </a:solidFill>
                <a:latin typeface="Funnel Sans" pitchFamily="34" charset="0"/>
                <a:ea typeface="Funnel Sans" pitchFamily="34" charset="-122"/>
                <a:cs typeface="Funnel Sans" pitchFamily="34" charset="-120"/>
              </a:rPr>
              <a:t>Name, Matricule, Email, Facial Data</a:t>
            </a:r>
            <a:endParaRPr lang="en-US" sz="1550" dirty="0"/>
          </a:p>
        </p:txBody>
      </p:sp>
      <p:sp>
        <p:nvSpPr>
          <p:cNvPr id="14" name="Text 11"/>
          <p:cNvSpPr/>
          <p:nvPr/>
        </p:nvSpPr>
        <p:spPr>
          <a:xfrm>
            <a:off x="11550372" y="4828461"/>
            <a:ext cx="2179320" cy="317302"/>
          </a:xfrm>
          <a:prstGeom prst="rect">
            <a:avLst/>
          </a:prstGeom>
          <a:noFill/>
          <a:ln/>
        </p:spPr>
        <p:txBody>
          <a:bodyPr wrap="none" lIns="0" tIns="0" rIns="0" bIns="0" rtlCol="0" anchor="t"/>
          <a:lstStyle/>
          <a:p>
            <a:pPr marL="0" indent="0" algn="l">
              <a:lnSpc>
                <a:spcPts val="2450"/>
              </a:lnSpc>
              <a:buNone/>
            </a:pPr>
            <a:r>
              <a:rPr lang="en-US" sz="1550" dirty="0">
                <a:solidFill>
                  <a:srgbClr val="52586B"/>
                </a:solidFill>
                <a:latin typeface="Funnel Sans" pitchFamily="34" charset="0"/>
                <a:ea typeface="Funnel Sans" pitchFamily="34" charset="-122"/>
                <a:cs typeface="Funnel Sans" pitchFamily="34" charset="-120"/>
              </a:rPr>
              <a:t>Matricule, Email</a:t>
            </a:r>
            <a:endParaRPr lang="en-US" sz="1550" dirty="0"/>
          </a:p>
        </p:txBody>
      </p:sp>
      <p:sp>
        <p:nvSpPr>
          <p:cNvPr id="15" name="Shape 12"/>
          <p:cNvSpPr/>
          <p:nvPr/>
        </p:nvSpPr>
        <p:spPr>
          <a:xfrm>
            <a:off x="6188035" y="5589627"/>
            <a:ext cx="7739896" cy="887730"/>
          </a:xfrm>
          <a:prstGeom prst="rect">
            <a:avLst/>
          </a:prstGeom>
          <a:solidFill>
            <a:srgbClr val="FFFFFF">
              <a:alpha val="4000"/>
            </a:srgbClr>
          </a:solidFill>
          <a:ln/>
        </p:spPr>
      </p:sp>
      <p:sp>
        <p:nvSpPr>
          <p:cNvPr id="16" name="Text 13"/>
          <p:cNvSpPr/>
          <p:nvPr/>
        </p:nvSpPr>
        <p:spPr>
          <a:xfrm>
            <a:off x="6387346" y="5716191"/>
            <a:ext cx="2179320" cy="317302"/>
          </a:xfrm>
          <a:prstGeom prst="rect">
            <a:avLst/>
          </a:prstGeom>
          <a:noFill/>
          <a:ln/>
        </p:spPr>
        <p:txBody>
          <a:bodyPr wrap="none" lIns="0" tIns="0" rIns="0" bIns="0" rtlCol="0" anchor="t"/>
          <a:lstStyle/>
          <a:p>
            <a:pPr marL="0" indent="0" algn="l">
              <a:lnSpc>
                <a:spcPts val="2450"/>
              </a:lnSpc>
              <a:buNone/>
            </a:pPr>
            <a:r>
              <a:rPr lang="en-US" sz="1550" dirty="0">
                <a:solidFill>
                  <a:srgbClr val="52586B"/>
                </a:solidFill>
                <a:latin typeface="Funnel Sans" pitchFamily="34" charset="0"/>
                <a:ea typeface="Funnel Sans" pitchFamily="34" charset="-122"/>
                <a:cs typeface="Funnel Sans" pitchFamily="34" charset="-120"/>
              </a:rPr>
              <a:t>Lecturer</a:t>
            </a:r>
            <a:endParaRPr lang="en-US" sz="1550" dirty="0"/>
          </a:p>
        </p:txBody>
      </p:sp>
      <p:sp>
        <p:nvSpPr>
          <p:cNvPr id="17" name="Text 14"/>
          <p:cNvSpPr/>
          <p:nvPr/>
        </p:nvSpPr>
        <p:spPr>
          <a:xfrm>
            <a:off x="8970764" y="5716191"/>
            <a:ext cx="2175510" cy="634603"/>
          </a:xfrm>
          <a:prstGeom prst="rect">
            <a:avLst/>
          </a:prstGeom>
          <a:noFill/>
          <a:ln/>
        </p:spPr>
        <p:txBody>
          <a:bodyPr wrap="square" lIns="0" tIns="0" rIns="0" bIns="0" rtlCol="0" anchor="t"/>
          <a:lstStyle/>
          <a:p>
            <a:pPr marL="0" indent="0" algn="l">
              <a:lnSpc>
                <a:spcPts val="2450"/>
              </a:lnSpc>
              <a:buNone/>
            </a:pPr>
            <a:r>
              <a:rPr lang="en-US" sz="1550" dirty="0">
                <a:solidFill>
                  <a:srgbClr val="52586B"/>
                </a:solidFill>
                <a:latin typeface="Funnel Sans" pitchFamily="34" charset="0"/>
                <a:ea typeface="Funnel Sans" pitchFamily="34" charset="-122"/>
                <a:cs typeface="Funnel Sans" pitchFamily="34" charset="-120"/>
              </a:rPr>
              <a:t>Name, Lecturer ID, Email, Courses Given</a:t>
            </a:r>
            <a:endParaRPr lang="en-US" sz="1550" dirty="0"/>
          </a:p>
        </p:txBody>
      </p:sp>
      <p:sp>
        <p:nvSpPr>
          <p:cNvPr id="18" name="Text 15"/>
          <p:cNvSpPr/>
          <p:nvPr/>
        </p:nvSpPr>
        <p:spPr>
          <a:xfrm>
            <a:off x="11550372" y="5716191"/>
            <a:ext cx="2179320" cy="317302"/>
          </a:xfrm>
          <a:prstGeom prst="rect">
            <a:avLst/>
          </a:prstGeom>
          <a:noFill/>
          <a:ln/>
        </p:spPr>
        <p:txBody>
          <a:bodyPr wrap="none" lIns="0" tIns="0" rIns="0" bIns="0" rtlCol="0" anchor="t"/>
          <a:lstStyle/>
          <a:p>
            <a:pPr marL="0" indent="0" algn="l">
              <a:lnSpc>
                <a:spcPts val="2450"/>
              </a:lnSpc>
              <a:buNone/>
            </a:pPr>
            <a:r>
              <a:rPr lang="en-US" sz="1550" dirty="0">
                <a:solidFill>
                  <a:srgbClr val="52586B"/>
                </a:solidFill>
                <a:latin typeface="Funnel Sans" pitchFamily="34" charset="0"/>
                <a:ea typeface="Funnel Sans" pitchFamily="34" charset="-122"/>
                <a:cs typeface="Funnel Sans" pitchFamily="34" charset="-120"/>
              </a:rPr>
              <a:t>Lecturer ID, Email</a:t>
            </a:r>
            <a:endParaRPr lang="en-US" sz="1550" dirty="0"/>
          </a:p>
        </p:txBody>
      </p:sp>
      <p:sp>
        <p:nvSpPr>
          <p:cNvPr id="19" name="Shape 16"/>
          <p:cNvSpPr/>
          <p:nvPr/>
        </p:nvSpPr>
        <p:spPr>
          <a:xfrm>
            <a:off x="6188035" y="6477357"/>
            <a:ext cx="7739896" cy="887730"/>
          </a:xfrm>
          <a:prstGeom prst="rect">
            <a:avLst/>
          </a:prstGeom>
          <a:solidFill>
            <a:srgbClr val="000000">
              <a:alpha val="4000"/>
            </a:srgbClr>
          </a:solidFill>
          <a:ln/>
        </p:spPr>
      </p:sp>
      <p:sp>
        <p:nvSpPr>
          <p:cNvPr id="20" name="Text 17"/>
          <p:cNvSpPr/>
          <p:nvPr/>
        </p:nvSpPr>
        <p:spPr>
          <a:xfrm>
            <a:off x="6387346" y="6603921"/>
            <a:ext cx="2179320" cy="317302"/>
          </a:xfrm>
          <a:prstGeom prst="rect">
            <a:avLst/>
          </a:prstGeom>
          <a:noFill/>
          <a:ln/>
        </p:spPr>
        <p:txBody>
          <a:bodyPr wrap="none" lIns="0" tIns="0" rIns="0" bIns="0" rtlCol="0" anchor="t"/>
          <a:lstStyle/>
          <a:p>
            <a:pPr marL="0" indent="0" algn="l">
              <a:lnSpc>
                <a:spcPts val="2450"/>
              </a:lnSpc>
              <a:buNone/>
            </a:pPr>
            <a:r>
              <a:rPr lang="en-US" sz="1550" dirty="0">
                <a:solidFill>
                  <a:srgbClr val="52586B"/>
                </a:solidFill>
                <a:latin typeface="Funnel Sans" pitchFamily="34" charset="0"/>
                <a:ea typeface="Funnel Sans" pitchFamily="34" charset="-122"/>
                <a:cs typeface="Funnel Sans" pitchFamily="34" charset="-120"/>
              </a:rPr>
              <a:t>Admin</a:t>
            </a:r>
            <a:endParaRPr lang="en-US" sz="1550" dirty="0"/>
          </a:p>
        </p:txBody>
      </p:sp>
      <p:sp>
        <p:nvSpPr>
          <p:cNvPr id="21" name="Text 18"/>
          <p:cNvSpPr/>
          <p:nvPr/>
        </p:nvSpPr>
        <p:spPr>
          <a:xfrm>
            <a:off x="8970764" y="6603921"/>
            <a:ext cx="2175510" cy="634603"/>
          </a:xfrm>
          <a:prstGeom prst="rect">
            <a:avLst/>
          </a:prstGeom>
          <a:noFill/>
          <a:ln/>
        </p:spPr>
        <p:txBody>
          <a:bodyPr wrap="square" lIns="0" tIns="0" rIns="0" bIns="0" rtlCol="0" anchor="t"/>
          <a:lstStyle/>
          <a:p>
            <a:pPr marL="0" indent="0" algn="l">
              <a:lnSpc>
                <a:spcPts val="2450"/>
              </a:lnSpc>
              <a:buNone/>
            </a:pPr>
            <a:r>
              <a:rPr lang="en-US" sz="1550" dirty="0">
                <a:solidFill>
                  <a:srgbClr val="52586B"/>
                </a:solidFill>
                <a:latin typeface="Funnel Sans" pitchFamily="34" charset="0"/>
                <a:ea typeface="Funnel Sans" pitchFamily="34" charset="-122"/>
                <a:cs typeface="Funnel Sans" pitchFamily="34" charset="-120"/>
              </a:rPr>
              <a:t>Full Name, Admin Code, Email, Institution</a:t>
            </a:r>
            <a:endParaRPr lang="en-US" sz="1550" dirty="0"/>
          </a:p>
        </p:txBody>
      </p:sp>
      <p:sp>
        <p:nvSpPr>
          <p:cNvPr id="22" name="Text 19"/>
          <p:cNvSpPr/>
          <p:nvPr/>
        </p:nvSpPr>
        <p:spPr>
          <a:xfrm>
            <a:off x="11550372" y="6603921"/>
            <a:ext cx="2179320" cy="317302"/>
          </a:xfrm>
          <a:prstGeom prst="rect">
            <a:avLst/>
          </a:prstGeom>
          <a:noFill/>
          <a:ln/>
        </p:spPr>
        <p:txBody>
          <a:bodyPr wrap="none" lIns="0" tIns="0" rIns="0" bIns="0" rtlCol="0" anchor="t"/>
          <a:lstStyle/>
          <a:p>
            <a:pPr marL="0" indent="0" algn="l">
              <a:lnSpc>
                <a:spcPts val="2450"/>
              </a:lnSpc>
              <a:buNone/>
            </a:pPr>
            <a:r>
              <a:rPr lang="en-US" sz="1550" dirty="0">
                <a:solidFill>
                  <a:srgbClr val="52586B"/>
                </a:solidFill>
                <a:latin typeface="Funnel Sans" pitchFamily="34" charset="0"/>
                <a:ea typeface="Funnel Sans" pitchFamily="34" charset="-122"/>
                <a:cs typeface="Funnel Sans" pitchFamily="34" charset="-120"/>
              </a:rPr>
              <a:t>Institution, Email</a:t>
            </a:r>
            <a:endParaRPr lang="en-US" sz="1550" dirty="0"/>
          </a:p>
        </p:txBody>
      </p:sp>
      <p:sp>
        <p:nvSpPr>
          <p:cNvPr id="23" name="TextBox 22">
            <a:extLst>
              <a:ext uri="{FF2B5EF4-FFF2-40B4-BE49-F238E27FC236}">
                <a16:creationId xmlns:a16="http://schemas.microsoft.com/office/drawing/2014/main" id="{3C06A46B-C507-42AF-B865-D904A38CFC6B}"/>
              </a:ext>
            </a:extLst>
          </p:cNvPr>
          <p:cNvSpPr txBox="1"/>
          <p:nvPr/>
        </p:nvSpPr>
        <p:spPr>
          <a:xfrm>
            <a:off x="12674009" y="7570381"/>
            <a:ext cx="1881963" cy="659219"/>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68774"/>
            <a:ext cx="11316295"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Conceptual Design: The System Blueprint</a:t>
            </a:r>
            <a:endParaRPr lang="en-US" sz="4450" dirty="0"/>
          </a:p>
        </p:txBody>
      </p:sp>
      <p:sp>
        <p:nvSpPr>
          <p:cNvPr id="3" name="Text 1"/>
          <p:cNvSpPr/>
          <p:nvPr/>
        </p:nvSpPr>
        <p:spPr>
          <a:xfrm>
            <a:off x="793790" y="1831181"/>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A conceptual design is a high-level representation of a system, illustrating its fundamental components without delving into specific implementation details. It acts as a blueprint, defining the logical structure of entities, their attributes, and their interactions within the system ecosystem.</a:t>
            </a:r>
            <a:endParaRPr lang="en-US" sz="1750" dirty="0"/>
          </a:p>
        </p:txBody>
      </p:sp>
      <p:sp>
        <p:nvSpPr>
          <p:cNvPr id="4" name="Text 2"/>
          <p:cNvSpPr/>
          <p:nvPr/>
        </p:nvSpPr>
        <p:spPr>
          <a:xfrm>
            <a:off x="793790" y="3175040"/>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This design outlines an integrated attendance management system, combining facial recognition with geofencing for comprehensive student tracking in educational institutions. It ensures all stakeholders share a common vision and helps mitigate risks early in the planning phase.</a:t>
            </a:r>
            <a:endParaRPr lang="en-US" sz="1750" dirty="0"/>
          </a:p>
        </p:txBody>
      </p:sp>
      <p:sp>
        <p:nvSpPr>
          <p:cNvPr id="5" name="Shape 3"/>
          <p:cNvSpPr/>
          <p:nvPr/>
        </p:nvSpPr>
        <p:spPr>
          <a:xfrm>
            <a:off x="793790" y="4518898"/>
            <a:ext cx="510302" cy="510302"/>
          </a:xfrm>
          <a:prstGeom prst="roundRect">
            <a:avLst>
              <a:gd name="adj" fmla="val 18669"/>
            </a:avLst>
          </a:prstGeom>
          <a:solidFill>
            <a:srgbClr val="E2E4E9"/>
          </a:solidFill>
          <a:ln w="7620">
            <a:solidFill>
              <a:srgbClr val="C8CACF"/>
            </a:solidFill>
            <a:prstDash val="solid"/>
          </a:ln>
        </p:spPr>
      </p:sp>
      <p:sp>
        <p:nvSpPr>
          <p:cNvPr id="6" name="Text 4"/>
          <p:cNvSpPr/>
          <p:nvPr/>
        </p:nvSpPr>
        <p:spPr>
          <a:xfrm>
            <a:off x="878860" y="4561403"/>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52586B"/>
                </a:solidFill>
                <a:latin typeface="Mona Sans Semi Bold" pitchFamily="34" charset="0"/>
                <a:ea typeface="Mona Sans Semi Bold" pitchFamily="34" charset="-122"/>
                <a:cs typeface="Mona Sans Semi Bold" pitchFamily="34" charset="-120"/>
              </a:rPr>
              <a:t>1</a:t>
            </a:r>
            <a:endParaRPr lang="en-US" sz="2650" dirty="0"/>
          </a:p>
        </p:txBody>
      </p:sp>
      <p:sp>
        <p:nvSpPr>
          <p:cNvPr id="7" name="Text 5"/>
          <p:cNvSpPr/>
          <p:nvPr/>
        </p:nvSpPr>
        <p:spPr>
          <a:xfrm>
            <a:off x="1530906" y="459676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Strategic Planning</a:t>
            </a:r>
            <a:endParaRPr lang="en-US" sz="2200" dirty="0"/>
          </a:p>
        </p:txBody>
      </p:sp>
      <p:sp>
        <p:nvSpPr>
          <p:cNvPr id="8" name="Text 6"/>
          <p:cNvSpPr/>
          <p:nvPr/>
        </p:nvSpPr>
        <p:spPr>
          <a:xfrm>
            <a:off x="1530906" y="5087183"/>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Provides a clear understanding of the system's scope and purpose for all stakeholders.</a:t>
            </a:r>
            <a:endParaRPr lang="en-US" sz="1750" dirty="0"/>
          </a:p>
        </p:txBody>
      </p:sp>
      <p:sp>
        <p:nvSpPr>
          <p:cNvPr id="9" name="Shape 7"/>
          <p:cNvSpPr/>
          <p:nvPr/>
        </p:nvSpPr>
        <p:spPr>
          <a:xfrm>
            <a:off x="7457003" y="4518898"/>
            <a:ext cx="510302" cy="510302"/>
          </a:xfrm>
          <a:prstGeom prst="roundRect">
            <a:avLst>
              <a:gd name="adj" fmla="val 18669"/>
            </a:avLst>
          </a:prstGeom>
          <a:solidFill>
            <a:srgbClr val="E2E4E9"/>
          </a:solidFill>
          <a:ln w="7620">
            <a:solidFill>
              <a:srgbClr val="C8CACF"/>
            </a:solidFill>
            <a:prstDash val="solid"/>
          </a:ln>
        </p:spPr>
      </p:sp>
      <p:sp>
        <p:nvSpPr>
          <p:cNvPr id="10" name="Text 8"/>
          <p:cNvSpPr/>
          <p:nvPr/>
        </p:nvSpPr>
        <p:spPr>
          <a:xfrm>
            <a:off x="7542074" y="4561403"/>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52586B"/>
                </a:solidFill>
                <a:latin typeface="Mona Sans Semi Bold" pitchFamily="34" charset="0"/>
                <a:ea typeface="Mona Sans Semi Bold" pitchFamily="34" charset="-122"/>
                <a:cs typeface="Mona Sans Semi Bold" pitchFamily="34" charset="-120"/>
              </a:rPr>
              <a:t>2</a:t>
            </a:r>
            <a:endParaRPr lang="en-US" sz="2650" dirty="0"/>
          </a:p>
        </p:txBody>
      </p:sp>
      <p:sp>
        <p:nvSpPr>
          <p:cNvPr id="11" name="Text 9"/>
          <p:cNvSpPr/>
          <p:nvPr/>
        </p:nvSpPr>
        <p:spPr>
          <a:xfrm>
            <a:off x="8194119" y="459676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Risk Mitigation</a:t>
            </a:r>
            <a:endParaRPr lang="en-US" sz="2200" dirty="0"/>
          </a:p>
        </p:txBody>
      </p:sp>
      <p:sp>
        <p:nvSpPr>
          <p:cNvPr id="12" name="Text 10"/>
          <p:cNvSpPr/>
          <p:nvPr/>
        </p:nvSpPr>
        <p:spPr>
          <a:xfrm>
            <a:off x="8194119" y="5087183"/>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Identifies potential challenges and missing requirements early in the planning phase.</a:t>
            </a:r>
            <a:endParaRPr lang="en-US" sz="1750" dirty="0"/>
          </a:p>
        </p:txBody>
      </p:sp>
      <p:sp>
        <p:nvSpPr>
          <p:cNvPr id="13" name="Shape 11"/>
          <p:cNvSpPr/>
          <p:nvPr/>
        </p:nvSpPr>
        <p:spPr>
          <a:xfrm>
            <a:off x="793790" y="6266617"/>
            <a:ext cx="510302" cy="510302"/>
          </a:xfrm>
          <a:prstGeom prst="roundRect">
            <a:avLst>
              <a:gd name="adj" fmla="val 18669"/>
            </a:avLst>
          </a:prstGeom>
          <a:solidFill>
            <a:srgbClr val="E2E4E9"/>
          </a:solidFill>
          <a:ln w="7620">
            <a:solidFill>
              <a:srgbClr val="C8CACF"/>
            </a:solidFill>
            <a:prstDash val="solid"/>
          </a:ln>
        </p:spPr>
      </p:sp>
      <p:sp>
        <p:nvSpPr>
          <p:cNvPr id="14" name="Text 12"/>
          <p:cNvSpPr/>
          <p:nvPr/>
        </p:nvSpPr>
        <p:spPr>
          <a:xfrm>
            <a:off x="878860" y="6309122"/>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52586B"/>
                </a:solidFill>
                <a:latin typeface="Mona Sans Semi Bold" pitchFamily="34" charset="0"/>
                <a:ea typeface="Mona Sans Semi Bold" pitchFamily="34" charset="-122"/>
                <a:cs typeface="Mona Sans Semi Bold" pitchFamily="34" charset="-120"/>
              </a:rPr>
              <a:t>3</a:t>
            </a:r>
            <a:endParaRPr lang="en-US" sz="2650" dirty="0"/>
          </a:p>
        </p:txBody>
      </p:sp>
      <p:sp>
        <p:nvSpPr>
          <p:cNvPr id="15" name="Text 13"/>
          <p:cNvSpPr/>
          <p:nvPr/>
        </p:nvSpPr>
        <p:spPr>
          <a:xfrm>
            <a:off x="1530906" y="634448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Communication</a:t>
            </a:r>
            <a:endParaRPr lang="en-US" sz="2200" dirty="0"/>
          </a:p>
        </p:txBody>
      </p:sp>
      <p:sp>
        <p:nvSpPr>
          <p:cNvPr id="16" name="Text 14"/>
          <p:cNvSpPr/>
          <p:nvPr/>
        </p:nvSpPr>
        <p:spPr>
          <a:xfrm>
            <a:off x="1530906" y="6834902"/>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Facilitates effective communication between technical teams and stakeholders.</a:t>
            </a:r>
            <a:endParaRPr lang="en-US" sz="1750" dirty="0"/>
          </a:p>
        </p:txBody>
      </p:sp>
      <p:sp>
        <p:nvSpPr>
          <p:cNvPr id="17" name="Shape 15"/>
          <p:cNvSpPr/>
          <p:nvPr/>
        </p:nvSpPr>
        <p:spPr>
          <a:xfrm>
            <a:off x="7457003" y="6266617"/>
            <a:ext cx="510302" cy="510302"/>
          </a:xfrm>
          <a:prstGeom prst="roundRect">
            <a:avLst>
              <a:gd name="adj" fmla="val 18669"/>
            </a:avLst>
          </a:prstGeom>
          <a:solidFill>
            <a:srgbClr val="E2E4E9"/>
          </a:solidFill>
          <a:ln w="7620">
            <a:solidFill>
              <a:srgbClr val="C8CACF"/>
            </a:solidFill>
            <a:prstDash val="solid"/>
          </a:ln>
        </p:spPr>
      </p:sp>
      <p:sp>
        <p:nvSpPr>
          <p:cNvPr id="18" name="Text 16"/>
          <p:cNvSpPr/>
          <p:nvPr/>
        </p:nvSpPr>
        <p:spPr>
          <a:xfrm>
            <a:off x="7542074" y="6309122"/>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52586B"/>
                </a:solidFill>
                <a:latin typeface="Mona Sans Semi Bold" pitchFamily="34" charset="0"/>
                <a:ea typeface="Mona Sans Semi Bold" pitchFamily="34" charset="-122"/>
                <a:cs typeface="Mona Sans Semi Bold" pitchFamily="34" charset="-120"/>
              </a:rPr>
              <a:t>4</a:t>
            </a:r>
            <a:endParaRPr lang="en-US" sz="2650" dirty="0"/>
          </a:p>
        </p:txBody>
      </p:sp>
      <p:sp>
        <p:nvSpPr>
          <p:cNvPr id="19" name="Text 17"/>
          <p:cNvSpPr/>
          <p:nvPr/>
        </p:nvSpPr>
        <p:spPr>
          <a:xfrm>
            <a:off x="8194119" y="6344483"/>
            <a:ext cx="2951917"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Technical Foundation</a:t>
            </a:r>
            <a:endParaRPr lang="en-US" sz="2200" dirty="0"/>
          </a:p>
        </p:txBody>
      </p:sp>
      <p:sp>
        <p:nvSpPr>
          <p:cNvPr id="20" name="Text 18"/>
          <p:cNvSpPr/>
          <p:nvPr/>
        </p:nvSpPr>
        <p:spPr>
          <a:xfrm>
            <a:off x="8194119" y="6834902"/>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Serves as a roadmap for subsequent detailed design and technical implementation.</a:t>
            </a:r>
            <a:endParaRPr lang="en-US" sz="1750" dirty="0"/>
          </a:p>
        </p:txBody>
      </p:sp>
      <p:sp>
        <p:nvSpPr>
          <p:cNvPr id="21" name="TextBox 20">
            <a:extLst>
              <a:ext uri="{FF2B5EF4-FFF2-40B4-BE49-F238E27FC236}">
                <a16:creationId xmlns:a16="http://schemas.microsoft.com/office/drawing/2014/main" id="{A6AB10BB-AA36-4092-8268-1CD3D15863A2}"/>
              </a:ext>
            </a:extLst>
          </p:cNvPr>
          <p:cNvSpPr txBox="1"/>
          <p:nvPr/>
        </p:nvSpPr>
        <p:spPr>
          <a:xfrm>
            <a:off x="12620847" y="7560707"/>
            <a:ext cx="2009553" cy="725805"/>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9020" y="740093"/>
            <a:ext cx="6752987" cy="650915"/>
          </a:xfrm>
          <a:prstGeom prst="rect">
            <a:avLst/>
          </a:prstGeom>
          <a:noFill/>
          <a:ln/>
        </p:spPr>
        <p:txBody>
          <a:bodyPr wrap="none" lIns="0" tIns="0" rIns="0" bIns="0" rtlCol="0" anchor="t"/>
          <a:lstStyle/>
          <a:p>
            <a:pPr marL="0" indent="0" algn="l">
              <a:lnSpc>
                <a:spcPts val="5100"/>
              </a:lnSpc>
              <a:buNone/>
            </a:pPr>
            <a:r>
              <a:rPr lang="en-US" sz="4100" dirty="0">
                <a:solidFill>
                  <a:srgbClr val="373B48"/>
                </a:solidFill>
                <a:latin typeface="Mona Sans Semi Bold" pitchFamily="34" charset="0"/>
                <a:ea typeface="Mona Sans Semi Bold" pitchFamily="34" charset="-122"/>
                <a:cs typeface="Mona Sans Semi Bold" pitchFamily="34" charset="-120"/>
              </a:rPr>
              <a:t>Core Entities of the System</a:t>
            </a:r>
            <a:endParaRPr lang="en-US" sz="4100" dirty="0"/>
          </a:p>
        </p:txBody>
      </p:sp>
      <p:sp>
        <p:nvSpPr>
          <p:cNvPr id="3" name="Text 1"/>
          <p:cNvSpPr/>
          <p:nvPr/>
        </p:nvSpPr>
        <p:spPr>
          <a:xfrm>
            <a:off x="729020" y="1807607"/>
            <a:ext cx="13172361" cy="1000125"/>
          </a:xfrm>
          <a:prstGeom prst="rect">
            <a:avLst/>
          </a:prstGeom>
          <a:noFill/>
          <a:ln/>
        </p:spPr>
        <p:txBody>
          <a:bodyPr wrap="square" lIns="0" tIns="0" rIns="0" bIns="0" rtlCol="0" anchor="t"/>
          <a:lstStyle/>
          <a:p>
            <a:pPr marL="0" indent="0" algn="l">
              <a:lnSpc>
                <a:spcPts val="2600"/>
              </a:lnSpc>
              <a:buNone/>
            </a:pPr>
            <a:r>
              <a:rPr lang="en-US" sz="1600" dirty="0">
                <a:solidFill>
                  <a:srgbClr val="52586B"/>
                </a:solidFill>
                <a:latin typeface="Funnel Sans" pitchFamily="34" charset="0"/>
                <a:ea typeface="Funnel Sans" pitchFamily="34" charset="-122"/>
                <a:cs typeface="Funnel Sans" pitchFamily="34" charset="-120"/>
              </a:rPr>
              <a:t>The attendance management system is built around several core entities that interact to provide comprehensive tracking. Students are the primary subjects, linked to courses and class sessions. Courses define the academic structure, connecting to sessions and administrative oversight.</a:t>
            </a:r>
            <a:endParaRPr lang="en-US" sz="1600" dirty="0"/>
          </a:p>
        </p:txBody>
      </p:sp>
      <p:sp>
        <p:nvSpPr>
          <p:cNvPr id="4" name="Text 2"/>
          <p:cNvSpPr/>
          <p:nvPr/>
        </p:nvSpPr>
        <p:spPr>
          <a:xfrm>
            <a:off x="729020" y="3042047"/>
            <a:ext cx="13172361" cy="1000125"/>
          </a:xfrm>
          <a:prstGeom prst="rect">
            <a:avLst/>
          </a:prstGeom>
          <a:noFill/>
          <a:ln/>
        </p:spPr>
        <p:txBody>
          <a:bodyPr wrap="square" lIns="0" tIns="0" rIns="0" bIns="0" rtlCol="0" anchor="t"/>
          <a:lstStyle/>
          <a:p>
            <a:pPr marL="0" indent="0" algn="l">
              <a:lnSpc>
                <a:spcPts val="2600"/>
              </a:lnSpc>
              <a:buNone/>
            </a:pPr>
            <a:r>
              <a:rPr lang="en-US" sz="1600" dirty="0">
                <a:solidFill>
                  <a:srgbClr val="52586B"/>
                </a:solidFill>
                <a:latin typeface="Funnel Sans" pitchFamily="34" charset="0"/>
                <a:ea typeface="Funnel Sans" pitchFamily="34" charset="-122"/>
                <a:cs typeface="Funnel Sans" pitchFamily="34" charset="-120"/>
              </a:rPr>
              <a:t>Class sessions are critical for real-time attendance capture, linking course structure with classroom infrastructure. Administrative components like Admin and Lecturer provide oversight and direct involvement in attendance verification, ensuring system governance and academic delivery.</a:t>
            </a:r>
            <a:endParaRPr lang="en-US" sz="1600" dirty="0"/>
          </a:p>
        </p:txBody>
      </p:sp>
      <p:sp>
        <p:nvSpPr>
          <p:cNvPr id="5" name="Text 3"/>
          <p:cNvSpPr/>
          <p:nvPr/>
        </p:nvSpPr>
        <p:spPr>
          <a:xfrm>
            <a:off x="729020" y="4484727"/>
            <a:ext cx="2603778" cy="325398"/>
          </a:xfrm>
          <a:prstGeom prst="rect">
            <a:avLst/>
          </a:prstGeom>
          <a:noFill/>
          <a:ln/>
        </p:spPr>
        <p:txBody>
          <a:bodyPr wrap="none" lIns="0" tIns="0" rIns="0" bIns="0" rtlCol="0" anchor="t"/>
          <a:lstStyle/>
          <a:p>
            <a:pPr marL="0" indent="0" algn="l">
              <a:lnSpc>
                <a:spcPts val="2550"/>
              </a:lnSpc>
              <a:buNone/>
            </a:pPr>
            <a:r>
              <a:rPr lang="en-US" sz="2050" dirty="0">
                <a:solidFill>
                  <a:srgbClr val="373B48"/>
                </a:solidFill>
                <a:latin typeface="Mona Sans Semi Bold" pitchFamily="34" charset="0"/>
                <a:ea typeface="Mona Sans Semi Bold" pitchFamily="34" charset="-122"/>
                <a:cs typeface="Mona Sans Semi Bold" pitchFamily="34" charset="-120"/>
              </a:rPr>
              <a:t>Student</a:t>
            </a:r>
            <a:endParaRPr lang="en-US" sz="2050" dirty="0"/>
          </a:p>
        </p:txBody>
      </p:sp>
      <p:sp>
        <p:nvSpPr>
          <p:cNvPr id="6" name="Text 4"/>
          <p:cNvSpPr/>
          <p:nvPr/>
        </p:nvSpPr>
        <p:spPr>
          <a:xfrm>
            <a:off x="729020" y="5018365"/>
            <a:ext cx="2911912" cy="1000125"/>
          </a:xfrm>
          <a:prstGeom prst="rect">
            <a:avLst/>
          </a:prstGeom>
          <a:noFill/>
          <a:ln/>
        </p:spPr>
        <p:txBody>
          <a:bodyPr wrap="square" lIns="0" tIns="0" rIns="0" bIns="0" rtlCol="0" anchor="t"/>
          <a:lstStyle/>
          <a:p>
            <a:pPr marL="0" indent="0" algn="l">
              <a:lnSpc>
                <a:spcPts val="2600"/>
              </a:lnSpc>
              <a:buNone/>
            </a:pPr>
            <a:r>
              <a:rPr lang="en-US" sz="1600" dirty="0">
                <a:solidFill>
                  <a:srgbClr val="52586B"/>
                </a:solidFill>
                <a:latin typeface="Funnel Sans" pitchFamily="34" charset="0"/>
                <a:ea typeface="Funnel Sans" pitchFamily="34" charset="-122"/>
                <a:cs typeface="Funnel Sans" pitchFamily="34" charset="-120"/>
              </a:rPr>
              <a:t>Primary subject of the attendance system, central to all tracking activities.</a:t>
            </a:r>
            <a:endParaRPr lang="en-US" sz="1600" dirty="0"/>
          </a:p>
        </p:txBody>
      </p:sp>
      <p:sp>
        <p:nvSpPr>
          <p:cNvPr id="7" name="Text 5"/>
          <p:cNvSpPr/>
          <p:nvPr/>
        </p:nvSpPr>
        <p:spPr>
          <a:xfrm>
            <a:off x="4156710" y="4484727"/>
            <a:ext cx="2603778" cy="325398"/>
          </a:xfrm>
          <a:prstGeom prst="rect">
            <a:avLst/>
          </a:prstGeom>
          <a:noFill/>
          <a:ln/>
        </p:spPr>
        <p:txBody>
          <a:bodyPr wrap="none" lIns="0" tIns="0" rIns="0" bIns="0" rtlCol="0" anchor="t"/>
          <a:lstStyle/>
          <a:p>
            <a:pPr marL="0" indent="0" algn="l">
              <a:lnSpc>
                <a:spcPts val="2550"/>
              </a:lnSpc>
              <a:buNone/>
            </a:pPr>
            <a:r>
              <a:rPr lang="en-US" sz="2050" dirty="0">
                <a:solidFill>
                  <a:srgbClr val="373B48"/>
                </a:solidFill>
                <a:latin typeface="Mona Sans Semi Bold" pitchFamily="34" charset="0"/>
                <a:ea typeface="Mona Sans Semi Bold" pitchFamily="34" charset="-122"/>
                <a:cs typeface="Mona Sans Semi Bold" pitchFamily="34" charset="-120"/>
              </a:rPr>
              <a:t>Course</a:t>
            </a:r>
            <a:endParaRPr lang="en-US" sz="2050" dirty="0"/>
          </a:p>
        </p:txBody>
      </p:sp>
      <p:sp>
        <p:nvSpPr>
          <p:cNvPr id="8" name="Text 6"/>
          <p:cNvSpPr/>
          <p:nvPr/>
        </p:nvSpPr>
        <p:spPr>
          <a:xfrm>
            <a:off x="4156710" y="5018365"/>
            <a:ext cx="2911912" cy="1000125"/>
          </a:xfrm>
          <a:prstGeom prst="rect">
            <a:avLst/>
          </a:prstGeom>
          <a:noFill/>
          <a:ln/>
        </p:spPr>
        <p:txBody>
          <a:bodyPr wrap="square" lIns="0" tIns="0" rIns="0" bIns="0" rtlCol="0" anchor="t"/>
          <a:lstStyle/>
          <a:p>
            <a:pPr marL="0" indent="0" algn="l">
              <a:lnSpc>
                <a:spcPts val="2600"/>
              </a:lnSpc>
              <a:buNone/>
            </a:pPr>
            <a:r>
              <a:rPr lang="en-US" sz="1600" dirty="0">
                <a:solidFill>
                  <a:srgbClr val="52586B"/>
                </a:solidFill>
                <a:latin typeface="Funnel Sans" pitchFamily="34" charset="0"/>
                <a:ea typeface="Funnel Sans" pitchFamily="34" charset="-122"/>
                <a:cs typeface="Funnel Sans" pitchFamily="34" charset="-120"/>
              </a:rPr>
              <a:t>Represents academic curriculum structure, linking to sessions and administration.</a:t>
            </a:r>
            <a:endParaRPr lang="en-US" sz="1600" dirty="0"/>
          </a:p>
        </p:txBody>
      </p:sp>
      <p:sp>
        <p:nvSpPr>
          <p:cNvPr id="9" name="Text 7"/>
          <p:cNvSpPr/>
          <p:nvPr/>
        </p:nvSpPr>
        <p:spPr>
          <a:xfrm>
            <a:off x="7584400" y="4484727"/>
            <a:ext cx="2603778" cy="325398"/>
          </a:xfrm>
          <a:prstGeom prst="rect">
            <a:avLst/>
          </a:prstGeom>
          <a:noFill/>
          <a:ln/>
        </p:spPr>
        <p:txBody>
          <a:bodyPr wrap="none" lIns="0" tIns="0" rIns="0" bIns="0" rtlCol="0" anchor="t"/>
          <a:lstStyle/>
          <a:p>
            <a:pPr marL="0" indent="0" algn="l">
              <a:lnSpc>
                <a:spcPts val="2550"/>
              </a:lnSpc>
              <a:buNone/>
            </a:pPr>
            <a:r>
              <a:rPr lang="en-US" sz="2050" dirty="0">
                <a:solidFill>
                  <a:srgbClr val="373B48"/>
                </a:solidFill>
                <a:latin typeface="Mona Sans Semi Bold" pitchFamily="34" charset="0"/>
                <a:ea typeface="Mona Sans Semi Bold" pitchFamily="34" charset="-122"/>
                <a:cs typeface="Mona Sans Semi Bold" pitchFamily="34" charset="-120"/>
              </a:rPr>
              <a:t>Class Session</a:t>
            </a:r>
            <a:endParaRPr lang="en-US" sz="2050" dirty="0"/>
          </a:p>
        </p:txBody>
      </p:sp>
      <p:sp>
        <p:nvSpPr>
          <p:cNvPr id="10" name="Text 8"/>
          <p:cNvSpPr/>
          <p:nvPr/>
        </p:nvSpPr>
        <p:spPr>
          <a:xfrm>
            <a:off x="7584400" y="5018365"/>
            <a:ext cx="2911912" cy="1000125"/>
          </a:xfrm>
          <a:prstGeom prst="rect">
            <a:avLst/>
          </a:prstGeom>
          <a:noFill/>
          <a:ln/>
        </p:spPr>
        <p:txBody>
          <a:bodyPr wrap="square" lIns="0" tIns="0" rIns="0" bIns="0" rtlCol="0" anchor="t"/>
          <a:lstStyle/>
          <a:p>
            <a:pPr marL="0" indent="0" algn="l">
              <a:lnSpc>
                <a:spcPts val="2600"/>
              </a:lnSpc>
              <a:buNone/>
            </a:pPr>
            <a:r>
              <a:rPr lang="en-US" sz="1600" dirty="0">
                <a:solidFill>
                  <a:srgbClr val="52586B"/>
                </a:solidFill>
                <a:latin typeface="Funnel Sans" pitchFamily="34" charset="0"/>
                <a:ea typeface="Funnel Sans" pitchFamily="34" charset="-122"/>
                <a:cs typeface="Funnel Sans" pitchFamily="34" charset="-120"/>
              </a:rPr>
              <a:t>Individual class meetings, critical for real-time attendance capture.</a:t>
            </a:r>
            <a:endParaRPr lang="en-US" sz="1600" dirty="0"/>
          </a:p>
        </p:txBody>
      </p:sp>
      <p:sp>
        <p:nvSpPr>
          <p:cNvPr id="11" name="Text 9"/>
          <p:cNvSpPr/>
          <p:nvPr/>
        </p:nvSpPr>
        <p:spPr>
          <a:xfrm>
            <a:off x="11012091" y="4484727"/>
            <a:ext cx="2603778" cy="325398"/>
          </a:xfrm>
          <a:prstGeom prst="rect">
            <a:avLst/>
          </a:prstGeom>
          <a:noFill/>
          <a:ln/>
        </p:spPr>
        <p:txBody>
          <a:bodyPr wrap="none" lIns="0" tIns="0" rIns="0" bIns="0" rtlCol="0" anchor="t"/>
          <a:lstStyle/>
          <a:p>
            <a:pPr marL="0" indent="0" algn="l">
              <a:lnSpc>
                <a:spcPts val="2550"/>
              </a:lnSpc>
              <a:buNone/>
            </a:pPr>
            <a:r>
              <a:rPr lang="en-US" sz="2050" dirty="0">
                <a:solidFill>
                  <a:srgbClr val="373B48"/>
                </a:solidFill>
                <a:latin typeface="Mona Sans Semi Bold" pitchFamily="34" charset="0"/>
                <a:ea typeface="Mona Sans Semi Bold" pitchFamily="34" charset="-122"/>
                <a:cs typeface="Mona Sans Semi Bold" pitchFamily="34" charset="-120"/>
              </a:rPr>
              <a:t>Admin</a:t>
            </a:r>
            <a:endParaRPr lang="en-US" sz="2050" dirty="0"/>
          </a:p>
        </p:txBody>
      </p:sp>
      <p:sp>
        <p:nvSpPr>
          <p:cNvPr id="12" name="Text 10"/>
          <p:cNvSpPr/>
          <p:nvPr/>
        </p:nvSpPr>
        <p:spPr>
          <a:xfrm>
            <a:off x="11012091" y="5018365"/>
            <a:ext cx="2911912" cy="1000125"/>
          </a:xfrm>
          <a:prstGeom prst="rect">
            <a:avLst/>
          </a:prstGeom>
          <a:noFill/>
          <a:ln/>
        </p:spPr>
        <p:txBody>
          <a:bodyPr wrap="square" lIns="0" tIns="0" rIns="0" bIns="0" rtlCol="0" anchor="t"/>
          <a:lstStyle/>
          <a:p>
            <a:pPr marL="0" indent="0" algn="l">
              <a:lnSpc>
                <a:spcPts val="2600"/>
              </a:lnSpc>
              <a:buNone/>
            </a:pPr>
            <a:r>
              <a:rPr lang="en-US" sz="1600" dirty="0">
                <a:solidFill>
                  <a:srgbClr val="52586B"/>
                </a:solidFill>
                <a:latin typeface="Funnel Sans" pitchFamily="34" charset="0"/>
                <a:ea typeface="Funnel Sans" pitchFamily="34" charset="-122"/>
                <a:cs typeface="Funnel Sans" pitchFamily="34" charset="-120"/>
              </a:rPr>
              <a:t>Provides system oversight and management capabilities, ensuring governance.</a:t>
            </a:r>
            <a:endParaRPr lang="en-US" sz="1600" dirty="0"/>
          </a:p>
        </p:txBody>
      </p:sp>
      <p:sp>
        <p:nvSpPr>
          <p:cNvPr id="13" name="Text 11"/>
          <p:cNvSpPr/>
          <p:nvPr/>
        </p:nvSpPr>
        <p:spPr>
          <a:xfrm>
            <a:off x="729020" y="6518315"/>
            <a:ext cx="2603778" cy="325398"/>
          </a:xfrm>
          <a:prstGeom prst="rect">
            <a:avLst/>
          </a:prstGeom>
          <a:noFill/>
          <a:ln/>
        </p:spPr>
        <p:txBody>
          <a:bodyPr wrap="none" lIns="0" tIns="0" rIns="0" bIns="0" rtlCol="0" anchor="t"/>
          <a:lstStyle/>
          <a:p>
            <a:pPr marL="0" indent="0" algn="l">
              <a:lnSpc>
                <a:spcPts val="2550"/>
              </a:lnSpc>
              <a:buNone/>
            </a:pPr>
            <a:r>
              <a:rPr lang="en-US" sz="2050" dirty="0">
                <a:solidFill>
                  <a:srgbClr val="373B48"/>
                </a:solidFill>
                <a:latin typeface="Mona Sans Semi Bold" pitchFamily="34" charset="0"/>
                <a:ea typeface="Mona Sans Semi Bold" pitchFamily="34" charset="-122"/>
                <a:cs typeface="Mona Sans Semi Bold" pitchFamily="34" charset="-120"/>
              </a:rPr>
              <a:t>Lecturer</a:t>
            </a:r>
            <a:endParaRPr lang="en-US" sz="2050" dirty="0"/>
          </a:p>
        </p:txBody>
      </p:sp>
      <p:sp>
        <p:nvSpPr>
          <p:cNvPr id="14" name="Text 12"/>
          <p:cNvSpPr/>
          <p:nvPr/>
        </p:nvSpPr>
        <p:spPr>
          <a:xfrm>
            <a:off x="729020" y="7156133"/>
            <a:ext cx="13172361" cy="333375"/>
          </a:xfrm>
          <a:prstGeom prst="rect">
            <a:avLst/>
          </a:prstGeom>
          <a:noFill/>
          <a:ln/>
        </p:spPr>
        <p:txBody>
          <a:bodyPr wrap="none" lIns="0" tIns="0" rIns="0" bIns="0" rtlCol="0" anchor="t"/>
          <a:lstStyle/>
          <a:p>
            <a:pPr marL="0" indent="0" algn="l">
              <a:lnSpc>
                <a:spcPts val="2600"/>
              </a:lnSpc>
              <a:buNone/>
            </a:pPr>
            <a:r>
              <a:rPr lang="en-US" sz="1600" dirty="0">
                <a:solidFill>
                  <a:srgbClr val="52586B"/>
                </a:solidFill>
                <a:latin typeface="Funnel Sans" pitchFamily="34" charset="0"/>
                <a:ea typeface="Funnel Sans" pitchFamily="34" charset="-122"/>
                <a:cs typeface="Funnel Sans" pitchFamily="34" charset="-120"/>
              </a:rPr>
              <a:t>Teaching staff responsible for course delivery and attendance verification.</a:t>
            </a:r>
            <a:endParaRPr lang="en-US" sz="1600" dirty="0"/>
          </a:p>
        </p:txBody>
      </p:sp>
      <p:sp>
        <p:nvSpPr>
          <p:cNvPr id="15" name="TextBox 14">
            <a:extLst>
              <a:ext uri="{FF2B5EF4-FFF2-40B4-BE49-F238E27FC236}">
                <a16:creationId xmlns:a16="http://schemas.microsoft.com/office/drawing/2014/main" id="{07866A3F-8A71-4801-AA0A-86531CD9CF38}"/>
              </a:ext>
            </a:extLst>
          </p:cNvPr>
          <p:cNvSpPr txBox="1"/>
          <p:nvPr/>
        </p:nvSpPr>
        <p:spPr>
          <a:xfrm>
            <a:off x="12631479" y="7304567"/>
            <a:ext cx="1924493" cy="924556"/>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93619" y="697349"/>
            <a:ext cx="7165300" cy="542092"/>
          </a:xfrm>
          <a:prstGeom prst="rect">
            <a:avLst/>
          </a:prstGeom>
          <a:noFill/>
          <a:ln/>
        </p:spPr>
        <p:txBody>
          <a:bodyPr wrap="none" lIns="0" tIns="0" rIns="0" bIns="0" rtlCol="0" anchor="t"/>
          <a:lstStyle/>
          <a:p>
            <a:pPr marL="0" indent="0" algn="l">
              <a:lnSpc>
                <a:spcPts val="4250"/>
              </a:lnSpc>
              <a:buNone/>
            </a:pPr>
            <a:r>
              <a:rPr lang="en-US" sz="3400" dirty="0">
                <a:solidFill>
                  <a:srgbClr val="373B48"/>
                </a:solidFill>
                <a:latin typeface="Mona Sans Semi Bold" pitchFamily="34" charset="0"/>
                <a:ea typeface="Mona Sans Semi Bold" pitchFamily="34" charset="-122"/>
                <a:cs typeface="Mona Sans Semi Bold" pitchFamily="34" charset="-120"/>
              </a:rPr>
              <a:t>Data Collection and Infrastructure</a:t>
            </a:r>
            <a:endParaRPr lang="en-US" sz="3400" dirty="0"/>
          </a:p>
        </p:txBody>
      </p:sp>
      <p:sp>
        <p:nvSpPr>
          <p:cNvPr id="4" name="Text 1"/>
          <p:cNvSpPr/>
          <p:nvPr/>
        </p:nvSpPr>
        <p:spPr>
          <a:xfrm>
            <a:off x="6093619" y="1499711"/>
            <a:ext cx="7929563" cy="832604"/>
          </a:xfrm>
          <a:prstGeom prst="rect">
            <a:avLst/>
          </a:prstGeom>
          <a:noFill/>
          <a:ln/>
        </p:spPr>
        <p:txBody>
          <a:bodyPr wrap="square" lIns="0" tIns="0" rIns="0" bIns="0" rtlCol="0" anchor="t"/>
          <a:lstStyle/>
          <a:p>
            <a:pPr marL="0" indent="0" algn="l">
              <a:lnSpc>
                <a:spcPts val="2150"/>
              </a:lnSpc>
              <a:buNone/>
            </a:pPr>
            <a:r>
              <a:rPr lang="en-US" sz="1350" dirty="0">
                <a:solidFill>
                  <a:srgbClr val="52586B"/>
                </a:solidFill>
                <a:latin typeface="Funnel Sans" pitchFamily="34" charset="0"/>
                <a:ea typeface="Funnel Sans" pitchFamily="34" charset="-122"/>
                <a:cs typeface="Funnel Sans" pitchFamily="34" charset="-120"/>
              </a:rPr>
              <a:t>The system's data collection relies on the Attendance entity, a central repository for records, and Face Data for biometric identification. These components ensure accurate and automated student identification, enhancing the reliability of attendance marking.</a:t>
            </a:r>
            <a:endParaRPr lang="en-US" sz="1350" dirty="0"/>
          </a:p>
        </p:txBody>
      </p:sp>
      <p:sp>
        <p:nvSpPr>
          <p:cNvPr id="5" name="Text 2"/>
          <p:cNvSpPr/>
          <p:nvPr/>
        </p:nvSpPr>
        <p:spPr>
          <a:xfrm>
            <a:off x="6093619" y="2527459"/>
            <a:ext cx="7929563" cy="832604"/>
          </a:xfrm>
          <a:prstGeom prst="rect">
            <a:avLst/>
          </a:prstGeom>
          <a:noFill/>
          <a:ln/>
        </p:spPr>
        <p:txBody>
          <a:bodyPr wrap="square" lIns="0" tIns="0" rIns="0" bIns="0" rtlCol="0" anchor="t"/>
          <a:lstStyle/>
          <a:p>
            <a:pPr marL="0" indent="0" algn="l">
              <a:lnSpc>
                <a:spcPts val="2150"/>
              </a:lnSpc>
              <a:buNone/>
            </a:pPr>
            <a:r>
              <a:rPr lang="en-US" sz="1350" dirty="0">
                <a:solidFill>
                  <a:srgbClr val="52586B"/>
                </a:solidFill>
                <a:latin typeface="Funnel Sans" pitchFamily="34" charset="0"/>
                <a:ea typeface="Funnel Sans" pitchFamily="34" charset="-122"/>
                <a:cs typeface="Funnel Sans" pitchFamily="34" charset="-120"/>
              </a:rPr>
              <a:t>Infrastructure components like Classroom, System Config, and Location provide the physical and technical context for attendance tracking. They enable location-specific settings and geo-location verification, supporting multi-location institutional requirements and proper system operation.</a:t>
            </a:r>
            <a:endParaRPr lang="en-US" sz="1350" dirty="0"/>
          </a:p>
        </p:txBody>
      </p:sp>
      <p:pic>
        <p:nvPicPr>
          <p:cNvPr id="6" name="Image 1" descr="preencoded.png"/>
          <p:cNvPicPr>
            <a:picLocks noChangeAspect="1"/>
          </p:cNvPicPr>
          <p:nvPr/>
        </p:nvPicPr>
        <p:blipFill>
          <a:blip r:embed="rId4"/>
          <a:stretch>
            <a:fillRect/>
          </a:stretch>
        </p:blipFill>
        <p:spPr>
          <a:xfrm>
            <a:off x="6093619" y="3555206"/>
            <a:ext cx="433745" cy="433745"/>
          </a:xfrm>
          <a:prstGeom prst="rect">
            <a:avLst/>
          </a:prstGeom>
        </p:spPr>
      </p:pic>
      <p:sp>
        <p:nvSpPr>
          <p:cNvPr id="7" name="Text 3"/>
          <p:cNvSpPr/>
          <p:nvPr/>
        </p:nvSpPr>
        <p:spPr>
          <a:xfrm>
            <a:off x="6093619" y="4162425"/>
            <a:ext cx="2168962" cy="271105"/>
          </a:xfrm>
          <a:prstGeom prst="rect">
            <a:avLst/>
          </a:prstGeom>
          <a:noFill/>
          <a:ln/>
        </p:spPr>
        <p:txBody>
          <a:bodyPr wrap="none" lIns="0" tIns="0" rIns="0" bIns="0" rtlCol="0" anchor="t"/>
          <a:lstStyle/>
          <a:p>
            <a:pPr marL="0" indent="0" algn="l">
              <a:lnSpc>
                <a:spcPts val="2100"/>
              </a:lnSpc>
              <a:buNone/>
            </a:pPr>
            <a:r>
              <a:rPr lang="en-US" sz="1700" dirty="0">
                <a:solidFill>
                  <a:srgbClr val="52586B"/>
                </a:solidFill>
                <a:latin typeface="Mona Sans Semi Bold" pitchFamily="34" charset="0"/>
                <a:ea typeface="Mona Sans Semi Bold" pitchFamily="34" charset="-122"/>
                <a:cs typeface="Mona Sans Semi Bold" pitchFamily="34" charset="-120"/>
              </a:rPr>
              <a:t>Attendance</a:t>
            </a:r>
            <a:endParaRPr lang="en-US" sz="1700" dirty="0"/>
          </a:p>
        </p:txBody>
      </p:sp>
      <p:sp>
        <p:nvSpPr>
          <p:cNvPr id="8" name="Text 4"/>
          <p:cNvSpPr/>
          <p:nvPr/>
        </p:nvSpPr>
        <p:spPr>
          <a:xfrm>
            <a:off x="6093619" y="4537591"/>
            <a:ext cx="2498646" cy="832604"/>
          </a:xfrm>
          <a:prstGeom prst="rect">
            <a:avLst/>
          </a:prstGeom>
          <a:noFill/>
          <a:ln/>
        </p:spPr>
        <p:txBody>
          <a:bodyPr wrap="square" lIns="0" tIns="0" rIns="0" bIns="0" rtlCol="0" anchor="t"/>
          <a:lstStyle/>
          <a:p>
            <a:pPr marL="0" indent="0" algn="l">
              <a:lnSpc>
                <a:spcPts val="2150"/>
              </a:lnSpc>
              <a:buNone/>
            </a:pPr>
            <a:r>
              <a:rPr lang="en-US" sz="1350" dirty="0">
                <a:solidFill>
                  <a:srgbClr val="52586B"/>
                </a:solidFill>
                <a:latin typeface="Funnel Sans" pitchFamily="34" charset="0"/>
                <a:ea typeface="Funnel Sans" pitchFamily="34" charset="-122"/>
                <a:cs typeface="Funnel Sans" pitchFamily="34" charset="-120"/>
              </a:rPr>
              <a:t>Central repository for attendance records, linking multiple entities.</a:t>
            </a:r>
            <a:endParaRPr lang="en-US" sz="1350" dirty="0"/>
          </a:p>
        </p:txBody>
      </p:sp>
      <p:pic>
        <p:nvPicPr>
          <p:cNvPr id="9" name="Image 2" descr="preencoded.png"/>
          <p:cNvPicPr>
            <a:picLocks noChangeAspect="1"/>
          </p:cNvPicPr>
          <p:nvPr/>
        </p:nvPicPr>
        <p:blipFill>
          <a:blip r:embed="rId5"/>
          <a:stretch>
            <a:fillRect/>
          </a:stretch>
        </p:blipFill>
        <p:spPr>
          <a:xfrm>
            <a:off x="8809077" y="3555206"/>
            <a:ext cx="433745" cy="433745"/>
          </a:xfrm>
          <a:prstGeom prst="rect">
            <a:avLst/>
          </a:prstGeom>
        </p:spPr>
      </p:pic>
      <p:sp>
        <p:nvSpPr>
          <p:cNvPr id="10" name="Text 5"/>
          <p:cNvSpPr/>
          <p:nvPr/>
        </p:nvSpPr>
        <p:spPr>
          <a:xfrm>
            <a:off x="8809077" y="4162425"/>
            <a:ext cx="2168962" cy="271105"/>
          </a:xfrm>
          <a:prstGeom prst="rect">
            <a:avLst/>
          </a:prstGeom>
          <a:noFill/>
          <a:ln/>
        </p:spPr>
        <p:txBody>
          <a:bodyPr wrap="none" lIns="0" tIns="0" rIns="0" bIns="0" rtlCol="0" anchor="t"/>
          <a:lstStyle/>
          <a:p>
            <a:pPr marL="0" indent="0" algn="l">
              <a:lnSpc>
                <a:spcPts val="2100"/>
              </a:lnSpc>
              <a:buNone/>
            </a:pPr>
            <a:r>
              <a:rPr lang="en-US" sz="1700" dirty="0">
                <a:solidFill>
                  <a:srgbClr val="52586B"/>
                </a:solidFill>
                <a:latin typeface="Mona Sans Semi Bold" pitchFamily="34" charset="0"/>
                <a:ea typeface="Mona Sans Semi Bold" pitchFamily="34" charset="-122"/>
                <a:cs typeface="Mona Sans Semi Bold" pitchFamily="34" charset="-120"/>
              </a:rPr>
              <a:t>Face Data</a:t>
            </a:r>
            <a:endParaRPr lang="en-US" sz="1700" dirty="0"/>
          </a:p>
        </p:txBody>
      </p:sp>
      <p:sp>
        <p:nvSpPr>
          <p:cNvPr id="11" name="Text 6"/>
          <p:cNvSpPr/>
          <p:nvPr/>
        </p:nvSpPr>
        <p:spPr>
          <a:xfrm>
            <a:off x="8809077" y="4537591"/>
            <a:ext cx="2498646" cy="555069"/>
          </a:xfrm>
          <a:prstGeom prst="rect">
            <a:avLst/>
          </a:prstGeom>
          <a:noFill/>
          <a:ln/>
        </p:spPr>
        <p:txBody>
          <a:bodyPr wrap="square" lIns="0" tIns="0" rIns="0" bIns="0" rtlCol="0" anchor="t"/>
          <a:lstStyle/>
          <a:p>
            <a:pPr marL="0" indent="0" algn="l">
              <a:lnSpc>
                <a:spcPts val="2150"/>
              </a:lnSpc>
              <a:buNone/>
            </a:pPr>
            <a:r>
              <a:rPr lang="en-US" sz="1350" dirty="0">
                <a:solidFill>
                  <a:srgbClr val="52586B"/>
                </a:solidFill>
                <a:latin typeface="Funnel Sans" pitchFamily="34" charset="0"/>
                <a:ea typeface="Funnel Sans" pitchFamily="34" charset="-122"/>
                <a:cs typeface="Funnel Sans" pitchFamily="34" charset="-120"/>
              </a:rPr>
              <a:t>Biometric identification for automated student verification.</a:t>
            </a:r>
            <a:endParaRPr lang="en-US" sz="1350" dirty="0"/>
          </a:p>
        </p:txBody>
      </p:sp>
      <p:pic>
        <p:nvPicPr>
          <p:cNvPr id="12" name="Image 3" descr="preencoded.png"/>
          <p:cNvPicPr>
            <a:picLocks noChangeAspect="1"/>
          </p:cNvPicPr>
          <p:nvPr/>
        </p:nvPicPr>
        <p:blipFill>
          <a:blip r:embed="rId6"/>
          <a:stretch>
            <a:fillRect/>
          </a:stretch>
        </p:blipFill>
        <p:spPr>
          <a:xfrm>
            <a:off x="11524536" y="3555206"/>
            <a:ext cx="433745" cy="433745"/>
          </a:xfrm>
          <a:prstGeom prst="rect">
            <a:avLst/>
          </a:prstGeom>
        </p:spPr>
      </p:pic>
      <p:sp>
        <p:nvSpPr>
          <p:cNvPr id="13" name="Text 7"/>
          <p:cNvSpPr/>
          <p:nvPr/>
        </p:nvSpPr>
        <p:spPr>
          <a:xfrm>
            <a:off x="11524536" y="4162425"/>
            <a:ext cx="2168962" cy="271105"/>
          </a:xfrm>
          <a:prstGeom prst="rect">
            <a:avLst/>
          </a:prstGeom>
          <a:noFill/>
          <a:ln/>
        </p:spPr>
        <p:txBody>
          <a:bodyPr wrap="none" lIns="0" tIns="0" rIns="0" bIns="0" rtlCol="0" anchor="t"/>
          <a:lstStyle/>
          <a:p>
            <a:pPr marL="0" indent="0" algn="l">
              <a:lnSpc>
                <a:spcPts val="2100"/>
              </a:lnSpc>
              <a:buNone/>
            </a:pPr>
            <a:r>
              <a:rPr lang="en-US" sz="1700" dirty="0">
                <a:solidFill>
                  <a:srgbClr val="52586B"/>
                </a:solidFill>
                <a:latin typeface="Mona Sans Semi Bold" pitchFamily="34" charset="0"/>
                <a:ea typeface="Mona Sans Semi Bold" pitchFamily="34" charset="-122"/>
                <a:cs typeface="Mona Sans Semi Bold" pitchFamily="34" charset="-120"/>
              </a:rPr>
              <a:t>Classroom</a:t>
            </a:r>
            <a:endParaRPr lang="en-US" sz="1700" dirty="0"/>
          </a:p>
        </p:txBody>
      </p:sp>
      <p:sp>
        <p:nvSpPr>
          <p:cNvPr id="14" name="Text 8"/>
          <p:cNvSpPr/>
          <p:nvPr/>
        </p:nvSpPr>
        <p:spPr>
          <a:xfrm>
            <a:off x="11524536" y="4537591"/>
            <a:ext cx="2498646" cy="832604"/>
          </a:xfrm>
          <a:prstGeom prst="rect">
            <a:avLst/>
          </a:prstGeom>
          <a:noFill/>
          <a:ln/>
        </p:spPr>
        <p:txBody>
          <a:bodyPr wrap="square" lIns="0" tIns="0" rIns="0" bIns="0" rtlCol="0" anchor="t"/>
          <a:lstStyle/>
          <a:p>
            <a:pPr marL="0" indent="0" algn="l">
              <a:lnSpc>
                <a:spcPts val="2150"/>
              </a:lnSpc>
              <a:buNone/>
            </a:pPr>
            <a:r>
              <a:rPr lang="en-US" sz="1350" dirty="0">
                <a:solidFill>
                  <a:srgbClr val="52586B"/>
                </a:solidFill>
                <a:latin typeface="Funnel Sans" pitchFamily="34" charset="0"/>
                <a:ea typeface="Funnel Sans" pitchFamily="34" charset="-122"/>
                <a:cs typeface="Funnel Sans" pitchFamily="34" charset="-120"/>
              </a:rPr>
              <a:t>Physical space for learning activities, providing environmental context.</a:t>
            </a:r>
            <a:endParaRPr lang="en-US" sz="1350" dirty="0"/>
          </a:p>
        </p:txBody>
      </p:sp>
      <p:pic>
        <p:nvPicPr>
          <p:cNvPr id="15" name="Image 4" descr="preencoded.png"/>
          <p:cNvPicPr>
            <a:picLocks noChangeAspect="1"/>
          </p:cNvPicPr>
          <p:nvPr/>
        </p:nvPicPr>
        <p:blipFill>
          <a:blip r:embed="rId7"/>
          <a:stretch>
            <a:fillRect/>
          </a:stretch>
        </p:blipFill>
        <p:spPr>
          <a:xfrm>
            <a:off x="6093619" y="5717143"/>
            <a:ext cx="433745" cy="433745"/>
          </a:xfrm>
          <a:prstGeom prst="rect">
            <a:avLst/>
          </a:prstGeom>
        </p:spPr>
      </p:pic>
      <p:sp>
        <p:nvSpPr>
          <p:cNvPr id="16" name="Text 9"/>
          <p:cNvSpPr/>
          <p:nvPr/>
        </p:nvSpPr>
        <p:spPr>
          <a:xfrm>
            <a:off x="6093619" y="6324362"/>
            <a:ext cx="2168962" cy="271105"/>
          </a:xfrm>
          <a:prstGeom prst="rect">
            <a:avLst/>
          </a:prstGeom>
          <a:noFill/>
          <a:ln/>
        </p:spPr>
        <p:txBody>
          <a:bodyPr wrap="none" lIns="0" tIns="0" rIns="0" bIns="0" rtlCol="0" anchor="t"/>
          <a:lstStyle/>
          <a:p>
            <a:pPr marL="0" indent="0" algn="l">
              <a:lnSpc>
                <a:spcPts val="2100"/>
              </a:lnSpc>
              <a:buNone/>
            </a:pPr>
            <a:r>
              <a:rPr lang="en-US" sz="1700" dirty="0">
                <a:solidFill>
                  <a:srgbClr val="52586B"/>
                </a:solidFill>
                <a:latin typeface="Mona Sans Semi Bold" pitchFamily="34" charset="0"/>
                <a:ea typeface="Mona Sans Semi Bold" pitchFamily="34" charset="-122"/>
                <a:cs typeface="Mona Sans Semi Bold" pitchFamily="34" charset="-120"/>
              </a:rPr>
              <a:t>System Config</a:t>
            </a:r>
            <a:endParaRPr lang="en-US" sz="1700" dirty="0"/>
          </a:p>
        </p:txBody>
      </p:sp>
      <p:sp>
        <p:nvSpPr>
          <p:cNvPr id="17" name="Text 10"/>
          <p:cNvSpPr/>
          <p:nvPr/>
        </p:nvSpPr>
        <p:spPr>
          <a:xfrm>
            <a:off x="6093619" y="6699528"/>
            <a:ext cx="2498646" cy="832604"/>
          </a:xfrm>
          <a:prstGeom prst="rect">
            <a:avLst/>
          </a:prstGeom>
          <a:noFill/>
          <a:ln/>
        </p:spPr>
        <p:txBody>
          <a:bodyPr wrap="square" lIns="0" tIns="0" rIns="0" bIns="0" rtlCol="0" anchor="t"/>
          <a:lstStyle/>
          <a:p>
            <a:pPr marL="0" indent="0" algn="l">
              <a:lnSpc>
                <a:spcPts val="2150"/>
              </a:lnSpc>
              <a:buNone/>
            </a:pPr>
            <a:r>
              <a:rPr lang="en-US" sz="1350" dirty="0">
                <a:solidFill>
                  <a:srgbClr val="52586B"/>
                </a:solidFill>
                <a:latin typeface="Funnel Sans" pitchFamily="34" charset="0"/>
                <a:ea typeface="Funnel Sans" pitchFamily="34" charset="-122"/>
                <a:cs typeface="Funnel Sans" pitchFamily="34" charset="-120"/>
              </a:rPr>
              <a:t>Manages system-wide parameters and settings for customization.</a:t>
            </a:r>
            <a:endParaRPr lang="en-US" sz="1350" dirty="0"/>
          </a:p>
        </p:txBody>
      </p:sp>
      <p:sp>
        <p:nvSpPr>
          <p:cNvPr id="18" name="TextBox 17">
            <a:extLst>
              <a:ext uri="{FF2B5EF4-FFF2-40B4-BE49-F238E27FC236}">
                <a16:creationId xmlns:a16="http://schemas.microsoft.com/office/drawing/2014/main" id="{1954B364-D70F-4B01-8DC2-9220D5970077}"/>
              </a:ext>
            </a:extLst>
          </p:cNvPr>
          <p:cNvSpPr txBox="1"/>
          <p:nvPr/>
        </p:nvSpPr>
        <p:spPr>
          <a:xfrm>
            <a:off x="12759070" y="7442791"/>
            <a:ext cx="1871330" cy="786809"/>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45651" y="350163"/>
            <a:ext cx="5744289" cy="397907"/>
          </a:xfrm>
          <a:prstGeom prst="rect">
            <a:avLst/>
          </a:prstGeom>
          <a:noFill/>
          <a:ln/>
        </p:spPr>
        <p:txBody>
          <a:bodyPr wrap="none" lIns="0" tIns="0" rIns="0" bIns="0" rtlCol="0" anchor="t"/>
          <a:lstStyle/>
          <a:p>
            <a:pPr marL="0" indent="0" algn="l">
              <a:lnSpc>
                <a:spcPts val="3100"/>
              </a:lnSpc>
              <a:buNone/>
            </a:pPr>
            <a:r>
              <a:rPr lang="en-US" sz="2500" dirty="0">
                <a:solidFill>
                  <a:srgbClr val="373B48"/>
                </a:solidFill>
                <a:latin typeface="Mona Sans Semi Bold" pitchFamily="34" charset="0"/>
                <a:ea typeface="Mona Sans Semi Bold" pitchFamily="34" charset="-122"/>
                <a:cs typeface="Mona Sans Semi Bold" pitchFamily="34" charset="-120"/>
              </a:rPr>
              <a:t>Entity-Relationship Diagram Analysis</a:t>
            </a:r>
            <a:endParaRPr lang="en-US" sz="2500" dirty="0"/>
          </a:p>
        </p:txBody>
      </p:sp>
      <p:sp>
        <p:nvSpPr>
          <p:cNvPr id="3" name="Text 1"/>
          <p:cNvSpPr/>
          <p:nvPr/>
        </p:nvSpPr>
        <p:spPr>
          <a:xfrm>
            <a:off x="445651" y="1002625"/>
            <a:ext cx="13739098" cy="407194"/>
          </a:xfrm>
          <a:prstGeom prst="rect">
            <a:avLst/>
          </a:prstGeom>
          <a:noFill/>
          <a:ln/>
        </p:spPr>
        <p:txBody>
          <a:bodyPr wrap="square" lIns="0" tIns="0" rIns="0" bIns="0" rtlCol="0" anchor="t"/>
          <a:lstStyle/>
          <a:p>
            <a:pPr marL="0" indent="0" algn="l">
              <a:lnSpc>
                <a:spcPts val="1600"/>
              </a:lnSpc>
              <a:buNone/>
            </a:pPr>
            <a:r>
              <a:rPr lang="en-US" sz="1000" dirty="0">
                <a:solidFill>
                  <a:srgbClr val="52586B"/>
                </a:solidFill>
                <a:latin typeface="Funnel Sans" pitchFamily="34" charset="0"/>
                <a:ea typeface="Funnel Sans" pitchFamily="34" charset="-122"/>
                <a:cs typeface="Funnel Sans" pitchFamily="34" charset="-120"/>
              </a:rPr>
              <a:t>The Entity-Relationship (ER) Diagram illustrates the detailed structure and relationships between various entities in the system. Key entities include Student, Attendance Record, Course, Administrator, Lecturer, Class Session, Location, System Configuration, and Face Data.</a:t>
            </a:r>
            <a:endParaRPr lang="en-US" sz="1000" dirty="0"/>
          </a:p>
        </p:txBody>
      </p:sp>
      <p:sp>
        <p:nvSpPr>
          <p:cNvPr id="4" name="Text 2"/>
          <p:cNvSpPr/>
          <p:nvPr/>
        </p:nvSpPr>
        <p:spPr>
          <a:xfrm>
            <a:off x="445651" y="1553051"/>
            <a:ext cx="13739098" cy="407194"/>
          </a:xfrm>
          <a:prstGeom prst="rect">
            <a:avLst/>
          </a:prstGeom>
          <a:noFill/>
          <a:ln/>
        </p:spPr>
        <p:txBody>
          <a:bodyPr wrap="square" lIns="0" tIns="0" rIns="0" bIns="0" rtlCol="0" anchor="t"/>
          <a:lstStyle/>
          <a:p>
            <a:pPr marL="0" indent="0" algn="l">
              <a:lnSpc>
                <a:spcPts val="1600"/>
              </a:lnSpc>
              <a:buNone/>
            </a:pPr>
            <a:r>
              <a:rPr lang="en-US" sz="1000" dirty="0">
                <a:solidFill>
                  <a:srgbClr val="52586B"/>
                </a:solidFill>
                <a:latin typeface="Funnel Sans" pitchFamily="34" charset="0"/>
                <a:ea typeface="Funnel Sans" pitchFamily="34" charset="-122"/>
                <a:cs typeface="Funnel Sans" pitchFamily="34" charset="-120"/>
              </a:rPr>
              <a:t>Each entity has a primary key for unique identification and specific attributes. Relationships, both primary (one-to-many) and secondary (many-to-one, one-to-one), define how these entities interact, ensuring comprehensive data tracking and system functionality.</a:t>
            </a:r>
            <a:endParaRPr lang="en-US" sz="1000" dirty="0"/>
          </a:p>
        </p:txBody>
      </p:sp>
      <p:sp>
        <p:nvSpPr>
          <p:cNvPr id="5" name="Shape 3"/>
          <p:cNvSpPr/>
          <p:nvPr/>
        </p:nvSpPr>
        <p:spPr>
          <a:xfrm>
            <a:off x="7307580" y="2103477"/>
            <a:ext cx="15240" cy="5776555"/>
          </a:xfrm>
          <a:prstGeom prst="roundRect">
            <a:avLst>
              <a:gd name="adj" fmla="val 350927"/>
            </a:avLst>
          </a:prstGeom>
          <a:solidFill>
            <a:srgbClr val="C8CACF"/>
          </a:solidFill>
          <a:ln/>
        </p:spPr>
      </p:sp>
      <p:sp>
        <p:nvSpPr>
          <p:cNvPr id="6" name="Shape 4"/>
          <p:cNvSpPr/>
          <p:nvPr/>
        </p:nvSpPr>
        <p:spPr>
          <a:xfrm>
            <a:off x="6805255" y="2239089"/>
            <a:ext cx="381953" cy="15240"/>
          </a:xfrm>
          <a:prstGeom prst="roundRect">
            <a:avLst>
              <a:gd name="adj" fmla="val 350927"/>
            </a:avLst>
          </a:prstGeom>
          <a:solidFill>
            <a:srgbClr val="C8CACF"/>
          </a:solidFill>
          <a:ln/>
        </p:spPr>
      </p:sp>
      <p:sp>
        <p:nvSpPr>
          <p:cNvPr id="7" name="Shape 5"/>
          <p:cNvSpPr/>
          <p:nvPr/>
        </p:nvSpPr>
        <p:spPr>
          <a:xfrm>
            <a:off x="7171968" y="2103477"/>
            <a:ext cx="286464" cy="286464"/>
          </a:xfrm>
          <a:prstGeom prst="roundRect">
            <a:avLst>
              <a:gd name="adj" fmla="val 18669"/>
            </a:avLst>
          </a:prstGeom>
          <a:solidFill>
            <a:srgbClr val="E2E4E9"/>
          </a:solidFill>
          <a:ln w="7620">
            <a:solidFill>
              <a:srgbClr val="C8CACF"/>
            </a:solidFill>
            <a:prstDash val="solid"/>
          </a:ln>
        </p:spPr>
      </p:sp>
      <p:sp>
        <p:nvSpPr>
          <p:cNvPr id="8" name="Text 6"/>
          <p:cNvSpPr/>
          <p:nvPr/>
        </p:nvSpPr>
        <p:spPr>
          <a:xfrm>
            <a:off x="7219712" y="2127349"/>
            <a:ext cx="190976" cy="238720"/>
          </a:xfrm>
          <a:prstGeom prst="rect">
            <a:avLst/>
          </a:prstGeom>
          <a:noFill/>
          <a:ln/>
        </p:spPr>
        <p:txBody>
          <a:bodyPr wrap="none" lIns="0" tIns="0" rIns="0" bIns="0" rtlCol="0" anchor="t"/>
          <a:lstStyle/>
          <a:p>
            <a:pPr marL="0" indent="0" algn="ctr">
              <a:lnSpc>
                <a:spcPts val="1500"/>
              </a:lnSpc>
              <a:buNone/>
            </a:pPr>
            <a:r>
              <a:rPr lang="en-US" sz="1500" dirty="0">
                <a:solidFill>
                  <a:srgbClr val="52586B"/>
                </a:solidFill>
                <a:latin typeface="Mona Sans Semi Bold" pitchFamily="34" charset="0"/>
                <a:ea typeface="Mona Sans Semi Bold" pitchFamily="34" charset="-122"/>
                <a:cs typeface="Mona Sans Semi Bold" pitchFamily="34" charset="-120"/>
              </a:rPr>
              <a:t>1</a:t>
            </a:r>
            <a:endParaRPr lang="en-US" sz="1500" dirty="0"/>
          </a:p>
        </p:txBody>
      </p:sp>
      <p:sp>
        <p:nvSpPr>
          <p:cNvPr id="9" name="Text 7"/>
          <p:cNvSpPr/>
          <p:nvPr/>
        </p:nvSpPr>
        <p:spPr>
          <a:xfrm>
            <a:off x="5086945" y="2147173"/>
            <a:ext cx="1591628" cy="198953"/>
          </a:xfrm>
          <a:prstGeom prst="rect">
            <a:avLst/>
          </a:prstGeom>
          <a:noFill/>
          <a:ln/>
        </p:spPr>
        <p:txBody>
          <a:bodyPr wrap="none" lIns="0" tIns="0" rIns="0" bIns="0" rtlCol="0" anchor="t"/>
          <a:lstStyle/>
          <a:p>
            <a:pPr marL="0" indent="0" algn="r">
              <a:lnSpc>
                <a:spcPts val="1550"/>
              </a:lnSpc>
              <a:buNone/>
            </a:pPr>
            <a:r>
              <a:rPr lang="en-US" sz="1250" dirty="0">
                <a:solidFill>
                  <a:srgbClr val="52586B"/>
                </a:solidFill>
                <a:latin typeface="Mona Sans Semi Bold" pitchFamily="34" charset="0"/>
                <a:ea typeface="Mona Sans Semi Bold" pitchFamily="34" charset="-122"/>
                <a:cs typeface="Mona Sans Semi Bold" pitchFamily="34" charset="-120"/>
              </a:rPr>
              <a:t>Student Entity</a:t>
            </a:r>
            <a:endParaRPr lang="en-US" sz="1250" dirty="0"/>
          </a:p>
        </p:txBody>
      </p:sp>
      <p:sp>
        <p:nvSpPr>
          <p:cNvPr id="10" name="Text 8"/>
          <p:cNvSpPr/>
          <p:nvPr/>
        </p:nvSpPr>
        <p:spPr>
          <a:xfrm>
            <a:off x="445651" y="2422446"/>
            <a:ext cx="6232922" cy="203597"/>
          </a:xfrm>
          <a:prstGeom prst="rect">
            <a:avLst/>
          </a:prstGeom>
          <a:noFill/>
          <a:ln/>
        </p:spPr>
        <p:txBody>
          <a:bodyPr wrap="none" lIns="0" tIns="0" rIns="0" bIns="0" rtlCol="0" anchor="t"/>
          <a:lstStyle/>
          <a:p>
            <a:pPr marL="0" indent="0" algn="r">
              <a:lnSpc>
                <a:spcPts val="1600"/>
              </a:lnSpc>
              <a:buNone/>
            </a:pPr>
            <a:r>
              <a:rPr lang="en-US" sz="1000" dirty="0">
                <a:solidFill>
                  <a:srgbClr val="52586B"/>
                </a:solidFill>
                <a:latin typeface="Funnel Sans" pitchFamily="34" charset="0"/>
                <a:ea typeface="Funnel Sans" pitchFamily="34" charset="-122"/>
                <a:cs typeface="Funnel Sans" pitchFamily="34" charset="-120"/>
              </a:rPr>
              <a:t>Core user, identified by matriculation number, linked to attendance and courses.</a:t>
            </a:r>
            <a:endParaRPr lang="en-US" sz="1000" dirty="0"/>
          </a:p>
        </p:txBody>
      </p:sp>
      <p:sp>
        <p:nvSpPr>
          <p:cNvPr id="11" name="Shape 9"/>
          <p:cNvSpPr/>
          <p:nvPr/>
        </p:nvSpPr>
        <p:spPr>
          <a:xfrm>
            <a:off x="7443192" y="3002875"/>
            <a:ext cx="381953" cy="15240"/>
          </a:xfrm>
          <a:prstGeom prst="roundRect">
            <a:avLst>
              <a:gd name="adj" fmla="val 350927"/>
            </a:avLst>
          </a:prstGeom>
          <a:solidFill>
            <a:srgbClr val="C8CACF"/>
          </a:solidFill>
          <a:ln/>
        </p:spPr>
      </p:sp>
      <p:sp>
        <p:nvSpPr>
          <p:cNvPr id="12" name="Shape 10"/>
          <p:cNvSpPr/>
          <p:nvPr/>
        </p:nvSpPr>
        <p:spPr>
          <a:xfrm>
            <a:off x="7171968" y="2867263"/>
            <a:ext cx="286464" cy="286464"/>
          </a:xfrm>
          <a:prstGeom prst="roundRect">
            <a:avLst>
              <a:gd name="adj" fmla="val 18669"/>
            </a:avLst>
          </a:prstGeom>
          <a:solidFill>
            <a:srgbClr val="E2E4E9"/>
          </a:solidFill>
          <a:ln w="7620">
            <a:solidFill>
              <a:srgbClr val="C8CACF"/>
            </a:solidFill>
            <a:prstDash val="solid"/>
          </a:ln>
        </p:spPr>
      </p:sp>
      <p:sp>
        <p:nvSpPr>
          <p:cNvPr id="13" name="Text 11"/>
          <p:cNvSpPr/>
          <p:nvPr/>
        </p:nvSpPr>
        <p:spPr>
          <a:xfrm>
            <a:off x="7219712" y="2891135"/>
            <a:ext cx="190976" cy="238720"/>
          </a:xfrm>
          <a:prstGeom prst="rect">
            <a:avLst/>
          </a:prstGeom>
          <a:noFill/>
          <a:ln/>
        </p:spPr>
        <p:txBody>
          <a:bodyPr wrap="none" lIns="0" tIns="0" rIns="0" bIns="0" rtlCol="0" anchor="t"/>
          <a:lstStyle/>
          <a:p>
            <a:pPr marL="0" indent="0" algn="ctr">
              <a:lnSpc>
                <a:spcPts val="1500"/>
              </a:lnSpc>
              <a:buNone/>
            </a:pPr>
            <a:r>
              <a:rPr lang="en-US" sz="1500" dirty="0">
                <a:solidFill>
                  <a:srgbClr val="52586B"/>
                </a:solidFill>
                <a:latin typeface="Mona Sans Semi Bold" pitchFamily="34" charset="0"/>
                <a:ea typeface="Mona Sans Semi Bold" pitchFamily="34" charset="-122"/>
                <a:cs typeface="Mona Sans Semi Bold" pitchFamily="34" charset="-120"/>
              </a:rPr>
              <a:t>2</a:t>
            </a:r>
            <a:endParaRPr lang="en-US" sz="1500" dirty="0"/>
          </a:p>
        </p:txBody>
      </p:sp>
      <p:sp>
        <p:nvSpPr>
          <p:cNvPr id="14" name="Text 12"/>
          <p:cNvSpPr/>
          <p:nvPr/>
        </p:nvSpPr>
        <p:spPr>
          <a:xfrm>
            <a:off x="7951827" y="2910959"/>
            <a:ext cx="1591628" cy="198953"/>
          </a:xfrm>
          <a:prstGeom prst="rect">
            <a:avLst/>
          </a:prstGeom>
          <a:noFill/>
          <a:ln/>
        </p:spPr>
        <p:txBody>
          <a:bodyPr wrap="none" lIns="0" tIns="0" rIns="0" bIns="0" rtlCol="0" anchor="t"/>
          <a:lstStyle/>
          <a:p>
            <a:pPr marL="0" indent="0" algn="l">
              <a:lnSpc>
                <a:spcPts val="1550"/>
              </a:lnSpc>
              <a:buNone/>
            </a:pPr>
            <a:r>
              <a:rPr lang="en-US" sz="1250" dirty="0">
                <a:solidFill>
                  <a:srgbClr val="52586B"/>
                </a:solidFill>
                <a:latin typeface="Mona Sans Semi Bold" pitchFamily="34" charset="0"/>
                <a:ea typeface="Mona Sans Semi Bold" pitchFamily="34" charset="-122"/>
                <a:cs typeface="Mona Sans Semi Bold" pitchFamily="34" charset="-120"/>
              </a:rPr>
              <a:t>Attendance Record</a:t>
            </a:r>
            <a:endParaRPr lang="en-US" sz="1250" dirty="0"/>
          </a:p>
        </p:txBody>
      </p:sp>
      <p:sp>
        <p:nvSpPr>
          <p:cNvPr id="15" name="Text 13"/>
          <p:cNvSpPr/>
          <p:nvPr/>
        </p:nvSpPr>
        <p:spPr>
          <a:xfrm>
            <a:off x="7951827" y="3186232"/>
            <a:ext cx="6232922" cy="203597"/>
          </a:xfrm>
          <a:prstGeom prst="rect">
            <a:avLst/>
          </a:prstGeom>
          <a:noFill/>
          <a:ln/>
        </p:spPr>
        <p:txBody>
          <a:bodyPr wrap="none" lIns="0" tIns="0" rIns="0" bIns="0" rtlCol="0" anchor="t"/>
          <a:lstStyle/>
          <a:p>
            <a:pPr marL="0" indent="0" algn="l">
              <a:lnSpc>
                <a:spcPts val="1600"/>
              </a:lnSpc>
              <a:buNone/>
            </a:pPr>
            <a:r>
              <a:rPr lang="en-US" sz="1000" dirty="0">
                <a:solidFill>
                  <a:srgbClr val="52586B"/>
                </a:solidFill>
                <a:latin typeface="Funnel Sans" pitchFamily="34" charset="0"/>
                <a:ea typeface="Funnel Sans" pitchFamily="34" charset="-122"/>
                <a:cs typeface="Funnel Sans" pitchFamily="34" charset="-120"/>
              </a:rPr>
              <a:t>Captures individual attendance instances, linking students to sessions and courses.</a:t>
            </a:r>
            <a:endParaRPr lang="en-US" sz="1000" dirty="0"/>
          </a:p>
        </p:txBody>
      </p:sp>
      <p:sp>
        <p:nvSpPr>
          <p:cNvPr id="16" name="Shape 14"/>
          <p:cNvSpPr/>
          <p:nvPr/>
        </p:nvSpPr>
        <p:spPr>
          <a:xfrm>
            <a:off x="6805255" y="3661291"/>
            <a:ext cx="381953" cy="15240"/>
          </a:xfrm>
          <a:prstGeom prst="roundRect">
            <a:avLst>
              <a:gd name="adj" fmla="val 350927"/>
            </a:avLst>
          </a:prstGeom>
          <a:solidFill>
            <a:srgbClr val="C8CACF"/>
          </a:solidFill>
          <a:ln/>
        </p:spPr>
      </p:sp>
      <p:sp>
        <p:nvSpPr>
          <p:cNvPr id="17" name="Shape 15"/>
          <p:cNvSpPr/>
          <p:nvPr/>
        </p:nvSpPr>
        <p:spPr>
          <a:xfrm>
            <a:off x="7171968" y="3525679"/>
            <a:ext cx="286464" cy="286464"/>
          </a:xfrm>
          <a:prstGeom prst="roundRect">
            <a:avLst>
              <a:gd name="adj" fmla="val 18669"/>
            </a:avLst>
          </a:prstGeom>
          <a:solidFill>
            <a:srgbClr val="E2E4E9"/>
          </a:solidFill>
          <a:ln w="7620">
            <a:solidFill>
              <a:srgbClr val="C8CACF"/>
            </a:solidFill>
            <a:prstDash val="solid"/>
          </a:ln>
        </p:spPr>
      </p:sp>
      <p:sp>
        <p:nvSpPr>
          <p:cNvPr id="18" name="Text 16"/>
          <p:cNvSpPr/>
          <p:nvPr/>
        </p:nvSpPr>
        <p:spPr>
          <a:xfrm>
            <a:off x="7219712" y="3549551"/>
            <a:ext cx="190976" cy="238720"/>
          </a:xfrm>
          <a:prstGeom prst="rect">
            <a:avLst/>
          </a:prstGeom>
          <a:noFill/>
          <a:ln/>
        </p:spPr>
        <p:txBody>
          <a:bodyPr wrap="none" lIns="0" tIns="0" rIns="0" bIns="0" rtlCol="0" anchor="t"/>
          <a:lstStyle/>
          <a:p>
            <a:pPr marL="0" indent="0" algn="ctr">
              <a:lnSpc>
                <a:spcPts val="1500"/>
              </a:lnSpc>
              <a:buNone/>
            </a:pPr>
            <a:r>
              <a:rPr lang="en-US" sz="1500" dirty="0">
                <a:solidFill>
                  <a:srgbClr val="52586B"/>
                </a:solidFill>
                <a:latin typeface="Mona Sans Semi Bold" pitchFamily="34" charset="0"/>
                <a:ea typeface="Mona Sans Semi Bold" pitchFamily="34" charset="-122"/>
                <a:cs typeface="Mona Sans Semi Bold" pitchFamily="34" charset="-120"/>
              </a:rPr>
              <a:t>3</a:t>
            </a:r>
            <a:endParaRPr lang="en-US" sz="1500" dirty="0"/>
          </a:p>
        </p:txBody>
      </p:sp>
      <p:sp>
        <p:nvSpPr>
          <p:cNvPr id="19" name="Text 17"/>
          <p:cNvSpPr/>
          <p:nvPr/>
        </p:nvSpPr>
        <p:spPr>
          <a:xfrm>
            <a:off x="5086945" y="3569375"/>
            <a:ext cx="1591628" cy="198953"/>
          </a:xfrm>
          <a:prstGeom prst="rect">
            <a:avLst/>
          </a:prstGeom>
          <a:noFill/>
          <a:ln/>
        </p:spPr>
        <p:txBody>
          <a:bodyPr wrap="none" lIns="0" tIns="0" rIns="0" bIns="0" rtlCol="0" anchor="t"/>
          <a:lstStyle/>
          <a:p>
            <a:pPr marL="0" indent="0" algn="r">
              <a:lnSpc>
                <a:spcPts val="1550"/>
              </a:lnSpc>
              <a:buNone/>
            </a:pPr>
            <a:r>
              <a:rPr lang="en-US" sz="1250" dirty="0">
                <a:solidFill>
                  <a:srgbClr val="52586B"/>
                </a:solidFill>
                <a:latin typeface="Mona Sans Semi Bold" pitchFamily="34" charset="0"/>
                <a:ea typeface="Mona Sans Semi Bold" pitchFamily="34" charset="-122"/>
                <a:cs typeface="Mona Sans Semi Bold" pitchFamily="34" charset="-120"/>
              </a:rPr>
              <a:t>Course Entity</a:t>
            </a:r>
            <a:endParaRPr lang="en-US" sz="1250" dirty="0"/>
          </a:p>
        </p:txBody>
      </p:sp>
      <p:sp>
        <p:nvSpPr>
          <p:cNvPr id="20" name="Text 18"/>
          <p:cNvSpPr/>
          <p:nvPr/>
        </p:nvSpPr>
        <p:spPr>
          <a:xfrm>
            <a:off x="445651" y="3844647"/>
            <a:ext cx="6232922" cy="203597"/>
          </a:xfrm>
          <a:prstGeom prst="rect">
            <a:avLst/>
          </a:prstGeom>
          <a:noFill/>
          <a:ln/>
        </p:spPr>
        <p:txBody>
          <a:bodyPr wrap="none" lIns="0" tIns="0" rIns="0" bIns="0" rtlCol="0" anchor="t"/>
          <a:lstStyle/>
          <a:p>
            <a:pPr marL="0" indent="0" algn="r">
              <a:lnSpc>
                <a:spcPts val="1600"/>
              </a:lnSpc>
              <a:buNone/>
            </a:pPr>
            <a:r>
              <a:rPr lang="en-US" sz="1000" dirty="0">
                <a:solidFill>
                  <a:srgbClr val="52586B"/>
                </a:solidFill>
                <a:latin typeface="Funnel Sans" pitchFamily="34" charset="0"/>
                <a:ea typeface="Funnel Sans" pitchFamily="34" charset="-122"/>
                <a:cs typeface="Funnel Sans" pitchFamily="34" charset="-120"/>
              </a:rPr>
              <a:t>Represents academic subjects, linked to lecturers, students, and sessions.</a:t>
            </a:r>
            <a:endParaRPr lang="en-US" sz="1000" dirty="0"/>
          </a:p>
        </p:txBody>
      </p:sp>
      <p:sp>
        <p:nvSpPr>
          <p:cNvPr id="21" name="Shape 19"/>
          <p:cNvSpPr/>
          <p:nvPr/>
        </p:nvSpPr>
        <p:spPr>
          <a:xfrm>
            <a:off x="7443192" y="4319707"/>
            <a:ext cx="381953" cy="15240"/>
          </a:xfrm>
          <a:prstGeom prst="roundRect">
            <a:avLst>
              <a:gd name="adj" fmla="val 350927"/>
            </a:avLst>
          </a:prstGeom>
          <a:solidFill>
            <a:srgbClr val="C8CACF"/>
          </a:solidFill>
          <a:ln/>
        </p:spPr>
      </p:sp>
      <p:sp>
        <p:nvSpPr>
          <p:cNvPr id="22" name="Shape 20"/>
          <p:cNvSpPr/>
          <p:nvPr/>
        </p:nvSpPr>
        <p:spPr>
          <a:xfrm>
            <a:off x="7171968" y="4184094"/>
            <a:ext cx="286464" cy="286464"/>
          </a:xfrm>
          <a:prstGeom prst="roundRect">
            <a:avLst>
              <a:gd name="adj" fmla="val 18669"/>
            </a:avLst>
          </a:prstGeom>
          <a:solidFill>
            <a:srgbClr val="E2E4E9"/>
          </a:solidFill>
          <a:ln w="7620">
            <a:solidFill>
              <a:srgbClr val="C8CACF"/>
            </a:solidFill>
            <a:prstDash val="solid"/>
          </a:ln>
        </p:spPr>
      </p:sp>
      <p:sp>
        <p:nvSpPr>
          <p:cNvPr id="23" name="Text 21"/>
          <p:cNvSpPr/>
          <p:nvPr/>
        </p:nvSpPr>
        <p:spPr>
          <a:xfrm>
            <a:off x="7219712" y="4207966"/>
            <a:ext cx="190976" cy="238720"/>
          </a:xfrm>
          <a:prstGeom prst="rect">
            <a:avLst/>
          </a:prstGeom>
          <a:noFill/>
          <a:ln/>
        </p:spPr>
        <p:txBody>
          <a:bodyPr wrap="none" lIns="0" tIns="0" rIns="0" bIns="0" rtlCol="0" anchor="t"/>
          <a:lstStyle/>
          <a:p>
            <a:pPr marL="0" indent="0" algn="ctr">
              <a:lnSpc>
                <a:spcPts val="1500"/>
              </a:lnSpc>
              <a:buNone/>
            </a:pPr>
            <a:r>
              <a:rPr lang="en-US" sz="1500" dirty="0">
                <a:solidFill>
                  <a:srgbClr val="52586B"/>
                </a:solidFill>
                <a:latin typeface="Mona Sans Semi Bold" pitchFamily="34" charset="0"/>
                <a:ea typeface="Mona Sans Semi Bold" pitchFamily="34" charset="-122"/>
                <a:cs typeface="Mona Sans Semi Bold" pitchFamily="34" charset="-120"/>
              </a:rPr>
              <a:t>4</a:t>
            </a:r>
            <a:endParaRPr lang="en-US" sz="1500" dirty="0"/>
          </a:p>
        </p:txBody>
      </p:sp>
      <p:sp>
        <p:nvSpPr>
          <p:cNvPr id="24" name="Text 22"/>
          <p:cNvSpPr/>
          <p:nvPr/>
        </p:nvSpPr>
        <p:spPr>
          <a:xfrm>
            <a:off x="7951827" y="4227790"/>
            <a:ext cx="1591628" cy="198953"/>
          </a:xfrm>
          <a:prstGeom prst="rect">
            <a:avLst/>
          </a:prstGeom>
          <a:noFill/>
          <a:ln/>
        </p:spPr>
        <p:txBody>
          <a:bodyPr wrap="none" lIns="0" tIns="0" rIns="0" bIns="0" rtlCol="0" anchor="t"/>
          <a:lstStyle/>
          <a:p>
            <a:pPr marL="0" indent="0" algn="l">
              <a:lnSpc>
                <a:spcPts val="1550"/>
              </a:lnSpc>
              <a:buNone/>
            </a:pPr>
            <a:r>
              <a:rPr lang="en-US" sz="1250" dirty="0">
                <a:solidFill>
                  <a:srgbClr val="52586B"/>
                </a:solidFill>
                <a:latin typeface="Mona Sans Semi Bold" pitchFamily="34" charset="0"/>
                <a:ea typeface="Mona Sans Semi Bold" pitchFamily="34" charset="-122"/>
                <a:cs typeface="Mona Sans Semi Bold" pitchFamily="34" charset="-120"/>
              </a:rPr>
              <a:t>Administrator Entity</a:t>
            </a:r>
            <a:endParaRPr lang="en-US" sz="1250" dirty="0"/>
          </a:p>
        </p:txBody>
      </p:sp>
      <p:sp>
        <p:nvSpPr>
          <p:cNvPr id="25" name="Text 23"/>
          <p:cNvSpPr/>
          <p:nvPr/>
        </p:nvSpPr>
        <p:spPr>
          <a:xfrm>
            <a:off x="7951827" y="4503063"/>
            <a:ext cx="6232922" cy="203597"/>
          </a:xfrm>
          <a:prstGeom prst="rect">
            <a:avLst/>
          </a:prstGeom>
          <a:noFill/>
          <a:ln/>
        </p:spPr>
        <p:txBody>
          <a:bodyPr wrap="none" lIns="0" tIns="0" rIns="0" bIns="0" rtlCol="0" anchor="t"/>
          <a:lstStyle/>
          <a:p>
            <a:pPr marL="0" indent="0" algn="l">
              <a:lnSpc>
                <a:spcPts val="1600"/>
              </a:lnSpc>
              <a:buNone/>
            </a:pPr>
            <a:r>
              <a:rPr lang="en-US" sz="1000" dirty="0">
                <a:solidFill>
                  <a:srgbClr val="52586B"/>
                </a:solidFill>
                <a:latin typeface="Funnel Sans" pitchFamily="34" charset="0"/>
                <a:ea typeface="Funnel Sans" pitchFamily="34" charset="-122"/>
                <a:cs typeface="Funnel Sans" pitchFamily="34" charset="-120"/>
              </a:rPr>
              <a:t>Manages system configuration, user accounts, and overall maintenance.</a:t>
            </a:r>
            <a:endParaRPr lang="en-US" sz="1000" dirty="0"/>
          </a:p>
        </p:txBody>
      </p:sp>
      <p:sp>
        <p:nvSpPr>
          <p:cNvPr id="26" name="Shape 24"/>
          <p:cNvSpPr/>
          <p:nvPr/>
        </p:nvSpPr>
        <p:spPr>
          <a:xfrm>
            <a:off x="6805255" y="4978122"/>
            <a:ext cx="381953" cy="15240"/>
          </a:xfrm>
          <a:prstGeom prst="roundRect">
            <a:avLst>
              <a:gd name="adj" fmla="val 350927"/>
            </a:avLst>
          </a:prstGeom>
          <a:solidFill>
            <a:srgbClr val="C8CACF"/>
          </a:solidFill>
          <a:ln/>
        </p:spPr>
      </p:sp>
      <p:sp>
        <p:nvSpPr>
          <p:cNvPr id="27" name="Shape 25"/>
          <p:cNvSpPr/>
          <p:nvPr/>
        </p:nvSpPr>
        <p:spPr>
          <a:xfrm>
            <a:off x="7171968" y="4842510"/>
            <a:ext cx="286464" cy="286464"/>
          </a:xfrm>
          <a:prstGeom prst="roundRect">
            <a:avLst>
              <a:gd name="adj" fmla="val 18669"/>
            </a:avLst>
          </a:prstGeom>
          <a:solidFill>
            <a:srgbClr val="E2E4E9"/>
          </a:solidFill>
          <a:ln w="7620">
            <a:solidFill>
              <a:srgbClr val="C8CACF"/>
            </a:solidFill>
            <a:prstDash val="solid"/>
          </a:ln>
        </p:spPr>
      </p:sp>
      <p:sp>
        <p:nvSpPr>
          <p:cNvPr id="28" name="Text 26"/>
          <p:cNvSpPr/>
          <p:nvPr/>
        </p:nvSpPr>
        <p:spPr>
          <a:xfrm>
            <a:off x="7219712" y="4866382"/>
            <a:ext cx="190976" cy="238720"/>
          </a:xfrm>
          <a:prstGeom prst="rect">
            <a:avLst/>
          </a:prstGeom>
          <a:noFill/>
          <a:ln/>
        </p:spPr>
        <p:txBody>
          <a:bodyPr wrap="none" lIns="0" tIns="0" rIns="0" bIns="0" rtlCol="0" anchor="t"/>
          <a:lstStyle/>
          <a:p>
            <a:pPr marL="0" indent="0" algn="ctr">
              <a:lnSpc>
                <a:spcPts val="1500"/>
              </a:lnSpc>
              <a:buNone/>
            </a:pPr>
            <a:r>
              <a:rPr lang="en-US" sz="1500" dirty="0">
                <a:solidFill>
                  <a:srgbClr val="52586B"/>
                </a:solidFill>
                <a:latin typeface="Mona Sans Semi Bold" pitchFamily="34" charset="0"/>
                <a:ea typeface="Mona Sans Semi Bold" pitchFamily="34" charset="-122"/>
                <a:cs typeface="Mona Sans Semi Bold" pitchFamily="34" charset="-120"/>
              </a:rPr>
              <a:t>5</a:t>
            </a:r>
            <a:endParaRPr lang="en-US" sz="1500" dirty="0"/>
          </a:p>
        </p:txBody>
      </p:sp>
      <p:sp>
        <p:nvSpPr>
          <p:cNvPr id="29" name="Text 27"/>
          <p:cNvSpPr/>
          <p:nvPr/>
        </p:nvSpPr>
        <p:spPr>
          <a:xfrm>
            <a:off x="5086945" y="4886206"/>
            <a:ext cx="1591628" cy="198953"/>
          </a:xfrm>
          <a:prstGeom prst="rect">
            <a:avLst/>
          </a:prstGeom>
          <a:noFill/>
          <a:ln/>
        </p:spPr>
        <p:txBody>
          <a:bodyPr wrap="none" lIns="0" tIns="0" rIns="0" bIns="0" rtlCol="0" anchor="t"/>
          <a:lstStyle/>
          <a:p>
            <a:pPr marL="0" indent="0" algn="r">
              <a:lnSpc>
                <a:spcPts val="1550"/>
              </a:lnSpc>
              <a:buNone/>
            </a:pPr>
            <a:r>
              <a:rPr lang="en-US" sz="1250" dirty="0">
                <a:solidFill>
                  <a:srgbClr val="52586B"/>
                </a:solidFill>
                <a:latin typeface="Mona Sans Semi Bold" pitchFamily="34" charset="0"/>
                <a:ea typeface="Mona Sans Semi Bold" pitchFamily="34" charset="-122"/>
                <a:cs typeface="Mona Sans Semi Bold" pitchFamily="34" charset="-120"/>
              </a:rPr>
              <a:t>Lecturer Entity</a:t>
            </a:r>
            <a:endParaRPr lang="en-US" sz="1250" dirty="0"/>
          </a:p>
        </p:txBody>
      </p:sp>
      <p:sp>
        <p:nvSpPr>
          <p:cNvPr id="30" name="Text 28"/>
          <p:cNvSpPr/>
          <p:nvPr/>
        </p:nvSpPr>
        <p:spPr>
          <a:xfrm>
            <a:off x="445651" y="5161478"/>
            <a:ext cx="6232922" cy="203597"/>
          </a:xfrm>
          <a:prstGeom prst="rect">
            <a:avLst/>
          </a:prstGeom>
          <a:noFill/>
          <a:ln/>
        </p:spPr>
        <p:txBody>
          <a:bodyPr wrap="none" lIns="0" tIns="0" rIns="0" bIns="0" rtlCol="0" anchor="t"/>
          <a:lstStyle/>
          <a:p>
            <a:pPr marL="0" indent="0" algn="r">
              <a:lnSpc>
                <a:spcPts val="1600"/>
              </a:lnSpc>
              <a:buNone/>
            </a:pPr>
            <a:r>
              <a:rPr lang="en-US" sz="1000" dirty="0">
                <a:solidFill>
                  <a:srgbClr val="52586B"/>
                </a:solidFill>
                <a:latin typeface="Funnel Sans" pitchFamily="34" charset="0"/>
                <a:ea typeface="Funnel Sans" pitchFamily="34" charset="-122"/>
                <a:cs typeface="Funnel Sans" pitchFamily="34" charset="-120"/>
              </a:rPr>
              <a:t>Faculty members teaching courses and managing attendance.</a:t>
            </a:r>
            <a:endParaRPr lang="en-US" sz="1000" dirty="0"/>
          </a:p>
        </p:txBody>
      </p:sp>
      <p:sp>
        <p:nvSpPr>
          <p:cNvPr id="31" name="Shape 29"/>
          <p:cNvSpPr/>
          <p:nvPr/>
        </p:nvSpPr>
        <p:spPr>
          <a:xfrm>
            <a:off x="7443192" y="5636538"/>
            <a:ext cx="381953" cy="15240"/>
          </a:xfrm>
          <a:prstGeom prst="roundRect">
            <a:avLst>
              <a:gd name="adj" fmla="val 350927"/>
            </a:avLst>
          </a:prstGeom>
          <a:solidFill>
            <a:srgbClr val="C8CACF"/>
          </a:solidFill>
          <a:ln/>
        </p:spPr>
      </p:sp>
      <p:sp>
        <p:nvSpPr>
          <p:cNvPr id="32" name="Shape 30"/>
          <p:cNvSpPr/>
          <p:nvPr/>
        </p:nvSpPr>
        <p:spPr>
          <a:xfrm>
            <a:off x="7171968" y="5500926"/>
            <a:ext cx="286464" cy="286464"/>
          </a:xfrm>
          <a:prstGeom prst="roundRect">
            <a:avLst>
              <a:gd name="adj" fmla="val 18669"/>
            </a:avLst>
          </a:prstGeom>
          <a:solidFill>
            <a:srgbClr val="E2E4E9"/>
          </a:solidFill>
          <a:ln w="7620">
            <a:solidFill>
              <a:srgbClr val="C8CACF"/>
            </a:solidFill>
            <a:prstDash val="solid"/>
          </a:ln>
        </p:spPr>
      </p:sp>
      <p:sp>
        <p:nvSpPr>
          <p:cNvPr id="33" name="Text 31"/>
          <p:cNvSpPr/>
          <p:nvPr/>
        </p:nvSpPr>
        <p:spPr>
          <a:xfrm>
            <a:off x="7219712" y="5524798"/>
            <a:ext cx="190976" cy="238720"/>
          </a:xfrm>
          <a:prstGeom prst="rect">
            <a:avLst/>
          </a:prstGeom>
          <a:noFill/>
          <a:ln/>
        </p:spPr>
        <p:txBody>
          <a:bodyPr wrap="none" lIns="0" tIns="0" rIns="0" bIns="0" rtlCol="0" anchor="t"/>
          <a:lstStyle/>
          <a:p>
            <a:pPr marL="0" indent="0" algn="ctr">
              <a:lnSpc>
                <a:spcPts val="1500"/>
              </a:lnSpc>
              <a:buNone/>
            </a:pPr>
            <a:r>
              <a:rPr lang="en-US" sz="1500" dirty="0">
                <a:solidFill>
                  <a:srgbClr val="52586B"/>
                </a:solidFill>
                <a:latin typeface="Mona Sans Semi Bold" pitchFamily="34" charset="0"/>
                <a:ea typeface="Mona Sans Semi Bold" pitchFamily="34" charset="-122"/>
                <a:cs typeface="Mona Sans Semi Bold" pitchFamily="34" charset="-120"/>
              </a:rPr>
              <a:t>6</a:t>
            </a:r>
            <a:endParaRPr lang="en-US" sz="1500" dirty="0"/>
          </a:p>
        </p:txBody>
      </p:sp>
      <p:sp>
        <p:nvSpPr>
          <p:cNvPr id="34" name="Text 32"/>
          <p:cNvSpPr/>
          <p:nvPr/>
        </p:nvSpPr>
        <p:spPr>
          <a:xfrm>
            <a:off x="7951827" y="5544622"/>
            <a:ext cx="1591628" cy="198953"/>
          </a:xfrm>
          <a:prstGeom prst="rect">
            <a:avLst/>
          </a:prstGeom>
          <a:noFill/>
          <a:ln/>
        </p:spPr>
        <p:txBody>
          <a:bodyPr wrap="none" lIns="0" tIns="0" rIns="0" bIns="0" rtlCol="0" anchor="t"/>
          <a:lstStyle/>
          <a:p>
            <a:pPr marL="0" indent="0" algn="l">
              <a:lnSpc>
                <a:spcPts val="1550"/>
              </a:lnSpc>
              <a:buNone/>
            </a:pPr>
            <a:r>
              <a:rPr lang="en-US" sz="1250" dirty="0">
                <a:solidFill>
                  <a:srgbClr val="52586B"/>
                </a:solidFill>
                <a:latin typeface="Mona Sans Semi Bold" pitchFamily="34" charset="0"/>
                <a:ea typeface="Mona Sans Semi Bold" pitchFamily="34" charset="-122"/>
                <a:cs typeface="Mona Sans Semi Bold" pitchFamily="34" charset="-120"/>
              </a:rPr>
              <a:t>Class Session Entity</a:t>
            </a:r>
            <a:endParaRPr lang="en-US" sz="1250" dirty="0"/>
          </a:p>
        </p:txBody>
      </p:sp>
      <p:sp>
        <p:nvSpPr>
          <p:cNvPr id="35" name="Text 33"/>
          <p:cNvSpPr/>
          <p:nvPr/>
        </p:nvSpPr>
        <p:spPr>
          <a:xfrm>
            <a:off x="7951827" y="5819894"/>
            <a:ext cx="6232922" cy="203597"/>
          </a:xfrm>
          <a:prstGeom prst="rect">
            <a:avLst/>
          </a:prstGeom>
          <a:noFill/>
          <a:ln/>
        </p:spPr>
        <p:txBody>
          <a:bodyPr wrap="none" lIns="0" tIns="0" rIns="0" bIns="0" rtlCol="0" anchor="t"/>
          <a:lstStyle/>
          <a:p>
            <a:pPr marL="0" indent="0" algn="l">
              <a:lnSpc>
                <a:spcPts val="1600"/>
              </a:lnSpc>
              <a:buNone/>
            </a:pPr>
            <a:r>
              <a:rPr lang="en-US" sz="1000" dirty="0">
                <a:solidFill>
                  <a:srgbClr val="52586B"/>
                </a:solidFill>
                <a:latin typeface="Funnel Sans" pitchFamily="34" charset="0"/>
                <a:ea typeface="Funnel Sans" pitchFamily="34" charset="-122"/>
                <a:cs typeface="Funnel Sans" pitchFamily="34" charset="-120"/>
              </a:rPr>
              <a:t>Individual class meetings with scheduling and location details.</a:t>
            </a:r>
            <a:endParaRPr lang="en-US" sz="1000" dirty="0"/>
          </a:p>
        </p:txBody>
      </p:sp>
      <p:sp>
        <p:nvSpPr>
          <p:cNvPr id="36" name="Shape 34"/>
          <p:cNvSpPr/>
          <p:nvPr/>
        </p:nvSpPr>
        <p:spPr>
          <a:xfrm>
            <a:off x="6805255" y="6294953"/>
            <a:ext cx="381953" cy="15240"/>
          </a:xfrm>
          <a:prstGeom prst="roundRect">
            <a:avLst>
              <a:gd name="adj" fmla="val 350927"/>
            </a:avLst>
          </a:prstGeom>
          <a:solidFill>
            <a:srgbClr val="C8CACF"/>
          </a:solidFill>
          <a:ln/>
        </p:spPr>
      </p:sp>
      <p:sp>
        <p:nvSpPr>
          <p:cNvPr id="37" name="Shape 35"/>
          <p:cNvSpPr/>
          <p:nvPr/>
        </p:nvSpPr>
        <p:spPr>
          <a:xfrm>
            <a:off x="7171968" y="6159341"/>
            <a:ext cx="286464" cy="286464"/>
          </a:xfrm>
          <a:prstGeom prst="roundRect">
            <a:avLst>
              <a:gd name="adj" fmla="val 18669"/>
            </a:avLst>
          </a:prstGeom>
          <a:solidFill>
            <a:srgbClr val="E2E4E9"/>
          </a:solidFill>
          <a:ln w="7620">
            <a:solidFill>
              <a:srgbClr val="C8CACF"/>
            </a:solidFill>
            <a:prstDash val="solid"/>
          </a:ln>
        </p:spPr>
      </p:sp>
      <p:sp>
        <p:nvSpPr>
          <p:cNvPr id="38" name="Text 36"/>
          <p:cNvSpPr/>
          <p:nvPr/>
        </p:nvSpPr>
        <p:spPr>
          <a:xfrm>
            <a:off x="7219712" y="6183213"/>
            <a:ext cx="190976" cy="238720"/>
          </a:xfrm>
          <a:prstGeom prst="rect">
            <a:avLst/>
          </a:prstGeom>
          <a:noFill/>
          <a:ln/>
        </p:spPr>
        <p:txBody>
          <a:bodyPr wrap="none" lIns="0" tIns="0" rIns="0" bIns="0" rtlCol="0" anchor="t"/>
          <a:lstStyle/>
          <a:p>
            <a:pPr marL="0" indent="0" algn="ctr">
              <a:lnSpc>
                <a:spcPts val="1500"/>
              </a:lnSpc>
              <a:buNone/>
            </a:pPr>
            <a:r>
              <a:rPr lang="en-US" sz="1500" dirty="0">
                <a:solidFill>
                  <a:srgbClr val="52586B"/>
                </a:solidFill>
                <a:latin typeface="Mona Sans Semi Bold" pitchFamily="34" charset="0"/>
                <a:ea typeface="Mona Sans Semi Bold" pitchFamily="34" charset="-122"/>
                <a:cs typeface="Mona Sans Semi Bold" pitchFamily="34" charset="-120"/>
              </a:rPr>
              <a:t>7</a:t>
            </a:r>
            <a:endParaRPr lang="en-US" sz="1500" dirty="0"/>
          </a:p>
        </p:txBody>
      </p:sp>
      <p:sp>
        <p:nvSpPr>
          <p:cNvPr id="39" name="Text 37"/>
          <p:cNvSpPr/>
          <p:nvPr/>
        </p:nvSpPr>
        <p:spPr>
          <a:xfrm>
            <a:off x="5086945" y="6203037"/>
            <a:ext cx="1591628" cy="198953"/>
          </a:xfrm>
          <a:prstGeom prst="rect">
            <a:avLst/>
          </a:prstGeom>
          <a:noFill/>
          <a:ln/>
        </p:spPr>
        <p:txBody>
          <a:bodyPr wrap="none" lIns="0" tIns="0" rIns="0" bIns="0" rtlCol="0" anchor="t"/>
          <a:lstStyle/>
          <a:p>
            <a:pPr marL="0" indent="0" algn="r">
              <a:lnSpc>
                <a:spcPts val="1550"/>
              </a:lnSpc>
              <a:buNone/>
            </a:pPr>
            <a:r>
              <a:rPr lang="en-US" sz="1250" dirty="0">
                <a:solidFill>
                  <a:srgbClr val="52586B"/>
                </a:solidFill>
                <a:latin typeface="Mona Sans Semi Bold" pitchFamily="34" charset="0"/>
                <a:ea typeface="Mona Sans Semi Bold" pitchFamily="34" charset="-122"/>
                <a:cs typeface="Mona Sans Semi Bold" pitchFamily="34" charset="-120"/>
              </a:rPr>
              <a:t>Location Entity</a:t>
            </a:r>
            <a:endParaRPr lang="en-US" sz="1250" dirty="0"/>
          </a:p>
        </p:txBody>
      </p:sp>
      <p:sp>
        <p:nvSpPr>
          <p:cNvPr id="40" name="Text 38"/>
          <p:cNvSpPr/>
          <p:nvPr/>
        </p:nvSpPr>
        <p:spPr>
          <a:xfrm>
            <a:off x="445651" y="6478310"/>
            <a:ext cx="6232922" cy="203597"/>
          </a:xfrm>
          <a:prstGeom prst="rect">
            <a:avLst/>
          </a:prstGeom>
          <a:noFill/>
          <a:ln/>
        </p:spPr>
        <p:txBody>
          <a:bodyPr wrap="none" lIns="0" tIns="0" rIns="0" bIns="0" rtlCol="0" anchor="t"/>
          <a:lstStyle/>
          <a:p>
            <a:pPr marL="0" indent="0" algn="r">
              <a:lnSpc>
                <a:spcPts val="1600"/>
              </a:lnSpc>
              <a:buNone/>
            </a:pPr>
            <a:r>
              <a:rPr lang="en-US" sz="1000" dirty="0">
                <a:solidFill>
                  <a:srgbClr val="52586B"/>
                </a:solidFill>
                <a:latin typeface="Funnel Sans" pitchFamily="34" charset="0"/>
                <a:ea typeface="Funnel Sans" pitchFamily="34" charset="-122"/>
                <a:cs typeface="Funnel Sans" pitchFamily="34" charset="-120"/>
              </a:rPr>
              <a:t>Defines valid venues for sessions, with GPS coordinates and geofence parameters.</a:t>
            </a:r>
            <a:endParaRPr lang="en-US" sz="1000" dirty="0"/>
          </a:p>
        </p:txBody>
      </p:sp>
      <p:sp>
        <p:nvSpPr>
          <p:cNvPr id="41" name="Shape 39"/>
          <p:cNvSpPr/>
          <p:nvPr/>
        </p:nvSpPr>
        <p:spPr>
          <a:xfrm>
            <a:off x="7443192" y="6953369"/>
            <a:ext cx="381953" cy="15240"/>
          </a:xfrm>
          <a:prstGeom prst="roundRect">
            <a:avLst>
              <a:gd name="adj" fmla="val 350927"/>
            </a:avLst>
          </a:prstGeom>
          <a:solidFill>
            <a:srgbClr val="C8CACF"/>
          </a:solidFill>
          <a:ln/>
        </p:spPr>
      </p:sp>
      <p:sp>
        <p:nvSpPr>
          <p:cNvPr id="42" name="Shape 40"/>
          <p:cNvSpPr/>
          <p:nvPr/>
        </p:nvSpPr>
        <p:spPr>
          <a:xfrm>
            <a:off x="7171968" y="6817757"/>
            <a:ext cx="286464" cy="286464"/>
          </a:xfrm>
          <a:prstGeom prst="roundRect">
            <a:avLst>
              <a:gd name="adj" fmla="val 18669"/>
            </a:avLst>
          </a:prstGeom>
          <a:solidFill>
            <a:srgbClr val="E2E4E9"/>
          </a:solidFill>
          <a:ln w="7620">
            <a:solidFill>
              <a:srgbClr val="C8CACF"/>
            </a:solidFill>
            <a:prstDash val="solid"/>
          </a:ln>
        </p:spPr>
      </p:sp>
      <p:sp>
        <p:nvSpPr>
          <p:cNvPr id="43" name="Text 41"/>
          <p:cNvSpPr/>
          <p:nvPr/>
        </p:nvSpPr>
        <p:spPr>
          <a:xfrm>
            <a:off x="7219712" y="6841629"/>
            <a:ext cx="190976" cy="238720"/>
          </a:xfrm>
          <a:prstGeom prst="rect">
            <a:avLst/>
          </a:prstGeom>
          <a:noFill/>
          <a:ln/>
        </p:spPr>
        <p:txBody>
          <a:bodyPr wrap="none" lIns="0" tIns="0" rIns="0" bIns="0" rtlCol="0" anchor="t"/>
          <a:lstStyle/>
          <a:p>
            <a:pPr marL="0" indent="0" algn="ctr">
              <a:lnSpc>
                <a:spcPts val="1500"/>
              </a:lnSpc>
              <a:buNone/>
            </a:pPr>
            <a:r>
              <a:rPr lang="en-US" sz="1500" dirty="0">
                <a:solidFill>
                  <a:srgbClr val="52586B"/>
                </a:solidFill>
                <a:latin typeface="Mona Sans Semi Bold" pitchFamily="34" charset="0"/>
                <a:ea typeface="Mona Sans Semi Bold" pitchFamily="34" charset="-122"/>
                <a:cs typeface="Mona Sans Semi Bold" pitchFamily="34" charset="-120"/>
              </a:rPr>
              <a:t>8</a:t>
            </a:r>
            <a:endParaRPr lang="en-US" sz="1500" dirty="0"/>
          </a:p>
        </p:txBody>
      </p:sp>
      <p:sp>
        <p:nvSpPr>
          <p:cNvPr id="44" name="Text 42"/>
          <p:cNvSpPr/>
          <p:nvPr/>
        </p:nvSpPr>
        <p:spPr>
          <a:xfrm>
            <a:off x="7951827" y="6861453"/>
            <a:ext cx="1591628" cy="198953"/>
          </a:xfrm>
          <a:prstGeom prst="rect">
            <a:avLst/>
          </a:prstGeom>
          <a:noFill/>
          <a:ln/>
        </p:spPr>
        <p:txBody>
          <a:bodyPr wrap="none" lIns="0" tIns="0" rIns="0" bIns="0" rtlCol="0" anchor="t"/>
          <a:lstStyle/>
          <a:p>
            <a:pPr marL="0" indent="0" algn="l">
              <a:lnSpc>
                <a:spcPts val="1550"/>
              </a:lnSpc>
              <a:buNone/>
            </a:pPr>
            <a:r>
              <a:rPr lang="en-US" sz="1250" dirty="0">
                <a:solidFill>
                  <a:srgbClr val="52586B"/>
                </a:solidFill>
                <a:latin typeface="Mona Sans Semi Bold" pitchFamily="34" charset="0"/>
                <a:ea typeface="Mona Sans Semi Bold" pitchFamily="34" charset="-122"/>
                <a:cs typeface="Mona Sans Semi Bold" pitchFamily="34" charset="-120"/>
              </a:rPr>
              <a:t>Face Data Entity</a:t>
            </a:r>
            <a:endParaRPr lang="en-US" sz="1250" dirty="0"/>
          </a:p>
        </p:txBody>
      </p:sp>
      <p:sp>
        <p:nvSpPr>
          <p:cNvPr id="45" name="Text 43"/>
          <p:cNvSpPr/>
          <p:nvPr/>
        </p:nvSpPr>
        <p:spPr>
          <a:xfrm>
            <a:off x="7951827" y="7136725"/>
            <a:ext cx="6232922" cy="203597"/>
          </a:xfrm>
          <a:prstGeom prst="rect">
            <a:avLst/>
          </a:prstGeom>
          <a:noFill/>
          <a:ln/>
        </p:spPr>
        <p:txBody>
          <a:bodyPr wrap="none" lIns="0" tIns="0" rIns="0" bIns="0" rtlCol="0" anchor="t"/>
          <a:lstStyle/>
          <a:p>
            <a:pPr marL="0" indent="0" algn="l">
              <a:lnSpc>
                <a:spcPts val="1600"/>
              </a:lnSpc>
              <a:buNone/>
            </a:pPr>
            <a:r>
              <a:rPr lang="en-US" sz="1000" dirty="0">
                <a:solidFill>
                  <a:srgbClr val="52586B"/>
                </a:solidFill>
                <a:latin typeface="Funnel Sans" pitchFamily="34" charset="0"/>
                <a:ea typeface="Funnel Sans" pitchFamily="34" charset="-122"/>
                <a:cs typeface="Funnel Sans" pitchFamily="34" charset="-120"/>
              </a:rPr>
              <a:t>Stores biometric information for student identification and verification.</a:t>
            </a:r>
            <a:endParaRPr lang="en-US" sz="1000" dirty="0"/>
          </a:p>
        </p:txBody>
      </p:sp>
      <p:sp>
        <p:nvSpPr>
          <p:cNvPr id="46" name="TextBox 45">
            <a:extLst>
              <a:ext uri="{FF2B5EF4-FFF2-40B4-BE49-F238E27FC236}">
                <a16:creationId xmlns:a16="http://schemas.microsoft.com/office/drawing/2014/main" id="{3CB3BE35-72E4-4940-B957-F1E7B9A2BCAB}"/>
              </a:ext>
            </a:extLst>
          </p:cNvPr>
          <p:cNvSpPr txBox="1"/>
          <p:nvPr/>
        </p:nvSpPr>
        <p:spPr>
          <a:xfrm>
            <a:off x="12769702" y="7581014"/>
            <a:ext cx="1860698" cy="648586"/>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1875" y="559356"/>
            <a:ext cx="10221397" cy="635556"/>
          </a:xfrm>
          <a:prstGeom prst="rect">
            <a:avLst/>
          </a:prstGeom>
          <a:noFill/>
          <a:ln/>
        </p:spPr>
        <p:txBody>
          <a:bodyPr wrap="none" lIns="0" tIns="0" rIns="0" bIns="0" rtlCol="0" anchor="t"/>
          <a:lstStyle/>
          <a:p>
            <a:pPr marL="0" indent="0" algn="l">
              <a:lnSpc>
                <a:spcPts val="5000"/>
              </a:lnSpc>
              <a:buNone/>
            </a:pPr>
            <a:r>
              <a:rPr lang="en-US" sz="4000" dirty="0">
                <a:solidFill>
                  <a:srgbClr val="373B48"/>
                </a:solidFill>
                <a:latin typeface="Mona Sans Semi Bold" pitchFamily="34" charset="0"/>
                <a:ea typeface="Mona Sans Semi Bold" pitchFamily="34" charset="-122"/>
                <a:cs typeface="Mona Sans Semi Bold" pitchFamily="34" charset="-120"/>
              </a:rPr>
              <a:t>Database Implementation with Supabase</a:t>
            </a:r>
            <a:endParaRPr lang="en-US" sz="4000" dirty="0"/>
          </a:p>
        </p:txBody>
      </p:sp>
      <p:sp>
        <p:nvSpPr>
          <p:cNvPr id="3" name="Text 1"/>
          <p:cNvSpPr/>
          <p:nvPr/>
        </p:nvSpPr>
        <p:spPr>
          <a:xfrm>
            <a:off x="711875" y="1601748"/>
            <a:ext cx="13206651" cy="976551"/>
          </a:xfrm>
          <a:prstGeom prst="rect">
            <a:avLst/>
          </a:prstGeom>
          <a:noFill/>
          <a:ln/>
        </p:spPr>
        <p:txBody>
          <a:bodyPr wrap="square" lIns="0" tIns="0" rIns="0" bIns="0" rtlCol="0" anchor="t"/>
          <a:lstStyle/>
          <a:p>
            <a:pPr marL="0" indent="0" algn="l">
              <a:lnSpc>
                <a:spcPts val="2550"/>
              </a:lnSpc>
              <a:buNone/>
            </a:pPr>
            <a:r>
              <a:rPr lang="en-US" sz="1600" dirty="0">
                <a:solidFill>
                  <a:srgbClr val="52586B"/>
                </a:solidFill>
                <a:latin typeface="Funnel Sans" pitchFamily="34" charset="0"/>
                <a:ea typeface="Funnel Sans" pitchFamily="34" charset="-122"/>
                <a:cs typeface="Funnel Sans" pitchFamily="34" charset="-120"/>
              </a:rPr>
              <a:t>The PostgreSQL database schema is designed for comprehensive attendance tracking, with tables for users, locations, face encodings, and attendance records. Supabase serves as the hosting platform, providing PostgreSQL services with built-in authentication, real-time subscriptions, and API generation.</a:t>
            </a:r>
            <a:endParaRPr lang="en-US" sz="1600" dirty="0"/>
          </a:p>
        </p:txBody>
      </p:sp>
      <p:sp>
        <p:nvSpPr>
          <p:cNvPr id="4" name="Text 2"/>
          <p:cNvSpPr/>
          <p:nvPr/>
        </p:nvSpPr>
        <p:spPr>
          <a:xfrm>
            <a:off x="711875" y="2807137"/>
            <a:ext cx="13206651" cy="976551"/>
          </a:xfrm>
          <a:prstGeom prst="rect">
            <a:avLst/>
          </a:prstGeom>
          <a:noFill/>
          <a:ln/>
        </p:spPr>
        <p:txBody>
          <a:bodyPr wrap="square" lIns="0" tIns="0" rIns="0" bIns="0" rtlCol="0" anchor="t"/>
          <a:lstStyle/>
          <a:p>
            <a:pPr marL="0" indent="0" algn="l">
              <a:lnSpc>
                <a:spcPts val="2550"/>
              </a:lnSpc>
              <a:buNone/>
            </a:pPr>
            <a:r>
              <a:rPr lang="en-US" sz="1600" dirty="0">
                <a:solidFill>
                  <a:srgbClr val="52586B"/>
                </a:solidFill>
                <a:latin typeface="Funnel Sans" pitchFamily="34" charset="0"/>
                <a:ea typeface="Funnel Sans" pitchFamily="34" charset="-122"/>
                <a:cs typeface="Funnel Sans" pitchFamily="34" charset="-120"/>
              </a:rPr>
              <a:t>Data security includes encryption at rest and in transit for sensitive information, with secure hashing for credentials and SSL/TLS for communications. Privacy measures involve data anonymization, retention policies, and compliance with data protection regulations, ensuring data minimization and user rights.</a:t>
            </a:r>
            <a:endParaRPr lang="en-US" sz="1600" dirty="0"/>
          </a:p>
        </p:txBody>
      </p:sp>
      <p:pic>
        <p:nvPicPr>
          <p:cNvPr id="5" name="Image 0" descr="preencoded.png"/>
          <p:cNvPicPr>
            <a:picLocks noChangeAspect="1"/>
          </p:cNvPicPr>
          <p:nvPr/>
        </p:nvPicPr>
        <p:blipFill>
          <a:blip r:embed="rId3"/>
          <a:stretch>
            <a:fillRect/>
          </a:stretch>
        </p:blipFill>
        <p:spPr>
          <a:xfrm>
            <a:off x="711875" y="4012525"/>
            <a:ext cx="1017032" cy="1220510"/>
          </a:xfrm>
          <a:prstGeom prst="rect">
            <a:avLst/>
          </a:prstGeom>
        </p:spPr>
      </p:pic>
      <p:sp>
        <p:nvSpPr>
          <p:cNvPr id="6" name="Text 3"/>
          <p:cNvSpPr/>
          <p:nvPr/>
        </p:nvSpPr>
        <p:spPr>
          <a:xfrm>
            <a:off x="2033945" y="4215884"/>
            <a:ext cx="2542699" cy="317897"/>
          </a:xfrm>
          <a:prstGeom prst="rect">
            <a:avLst/>
          </a:prstGeom>
          <a:noFill/>
          <a:ln/>
        </p:spPr>
        <p:txBody>
          <a:bodyPr wrap="none" lIns="0" tIns="0" rIns="0" bIns="0" rtlCol="0" anchor="t"/>
          <a:lstStyle/>
          <a:p>
            <a:pPr marL="0" indent="0" algn="l">
              <a:lnSpc>
                <a:spcPts val="2500"/>
              </a:lnSpc>
              <a:buNone/>
            </a:pPr>
            <a:r>
              <a:rPr lang="en-US" sz="2000" dirty="0">
                <a:solidFill>
                  <a:srgbClr val="52586B"/>
                </a:solidFill>
                <a:latin typeface="Mona Sans Semi Bold" pitchFamily="34" charset="0"/>
                <a:ea typeface="Mona Sans Semi Bold" pitchFamily="34" charset="-122"/>
                <a:cs typeface="Mona Sans Semi Bold" pitchFamily="34" charset="-120"/>
              </a:rPr>
              <a:t>Schema Design</a:t>
            </a:r>
            <a:endParaRPr lang="en-US" sz="2000" dirty="0"/>
          </a:p>
        </p:txBody>
      </p:sp>
      <p:sp>
        <p:nvSpPr>
          <p:cNvPr id="7" name="Text 4"/>
          <p:cNvSpPr/>
          <p:nvPr/>
        </p:nvSpPr>
        <p:spPr>
          <a:xfrm>
            <a:off x="2033945" y="4655820"/>
            <a:ext cx="11884581" cy="325517"/>
          </a:xfrm>
          <a:prstGeom prst="rect">
            <a:avLst/>
          </a:prstGeom>
          <a:noFill/>
          <a:ln/>
        </p:spPr>
        <p:txBody>
          <a:bodyPr wrap="none" lIns="0" tIns="0" rIns="0" bIns="0" rtlCol="0" anchor="t"/>
          <a:lstStyle/>
          <a:p>
            <a:pPr marL="0" indent="0" algn="l">
              <a:lnSpc>
                <a:spcPts val="2550"/>
              </a:lnSpc>
              <a:buNone/>
            </a:pPr>
            <a:r>
              <a:rPr lang="en-US" sz="1600" dirty="0">
                <a:solidFill>
                  <a:srgbClr val="52586B"/>
                </a:solidFill>
                <a:latin typeface="Funnel Sans" pitchFamily="34" charset="0"/>
                <a:ea typeface="Funnel Sans" pitchFamily="34" charset="-122"/>
                <a:cs typeface="Funnel Sans" pitchFamily="34" charset="-120"/>
              </a:rPr>
              <a:t>PostgreSQL schema with core entities for users, locations, and attendance records.</a:t>
            </a:r>
            <a:endParaRPr lang="en-US" sz="1600" dirty="0"/>
          </a:p>
        </p:txBody>
      </p:sp>
      <p:pic>
        <p:nvPicPr>
          <p:cNvPr id="8" name="Image 1" descr="preencoded.png"/>
          <p:cNvPicPr>
            <a:picLocks noChangeAspect="1"/>
          </p:cNvPicPr>
          <p:nvPr/>
        </p:nvPicPr>
        <p:blipFill>
          <a:blip r:embed="rId4"/>
          <a:stretch>
            <a:fillRect/>
          </a:stretch>
        </p:blipFill>
        <p:spPr>
          <a:xfrm>
            <a:off x="711875" y="5233035"/>
            <a:ext cx="1017032" cy="1220510"/>
          </a:xfrm>
          <a:prstGeom prst="rect">
            <a:avLst/>
          </a:prstGeom>
        </p:spPr>
      </p:pic>
      <p:sp>
        <p:nvSpPr>
          <p:cNvPr id="9" name="Text 5"/>
          <p:cNvSpPr/>
          <p:nvPr/>
        </p:nvSpPr>
        <p:spPr>
          <a:xfrm>
            <a:off x="2033945" y="5436394"/>
            <a:ext cx="2659975" cy="317897"/>
          </a:xfrm>
          <a:prstGeom prst="rect">
            <a:avLst/>
          </a:prstGeom>
          <a:noFill/>
          <a:ln/>
        </p:spPr>
        <p:txBody>
          <a:bodyPr wrap="none" lIns="0" tIns="0" rIns="0" bIns="0" rtlCol="0" anchor="t"/>
          <a:lstStyle/>
          <a:p>
            <a:pPr marL="0" indent="0" algn="l">
              <a:lnSpc>
                <a:spcPts val="2500"/>
              </a:lnSpc>
              <a:buNone/>
            </a:pPr>
            <a:r>
              <a:rPr lang="en-US" sz="2000" dirty="0">
                <a:solidFill>
                  <a:srgbClr val="52586B"/>
                </a:solidFill>
                <a:latin typeface="Mona Sans Semi Bold" pitchFamily="34" charset="0"/>
                <a:ea typeface="Mona Sans Semi Bold" pitchFamily="34" charset="-122"/>
                <a:cs typeface="Mona Sans Semi Bold" pitchFamily="34" charset="-120"/>
              </a:rPr>
              <a:t>Supabase Integration</a:t>
            </a:r>
            <a:endParaRPr lang="en-US" sz="2000" dirty="0"/>
          </a:p>
        </p:txBody>
      </p:sp>
      <p:sp>
        <p:nvSpPr>
          <p:cNvPr id="10" name="Text 6"/>
          <p:cNvSpPr/>
          <p:nvPr/>
        </p:nvSpPr>
        <p:spPr>
          <a:xfrm>
            <a:off x="2033945" y="5876330"/>
            <a:ext cx="11884581" cy="325517"/>
          </a:xfrm>
          <a:prstGeom prst="rect">
            <a:avLst/>
          </a:prstGeom>
          <a:noFill/>
          <a:ln/>
        </p:spPr>
        <p:txBody>
          <a:bodyPr wrap="none" lIns="0" tIns="0" rIns="0" bIns="0" rtlCol="0" anchor="t"/>
          <a:lstStyle/>
          <a:p>
            <a:pPr marL="0" indent="0" algn="l">
              <a:lnSpc>
                <a:spcPts val="2550"/>
              </a:lnSpc>
              <a:buNone/>
            </a:pPr>
            <a:r>
              <a:rPr lang="en-US" sz="1600" dirty="0">
                <a:solidFill>
                  <a:srgbClr val="52586B"/>
                </a:solidFill>
                <a:latin typeface="Funnel Sans" pitchFamily="34" charset="0"/>
                <a:ea typeface="Funnel Sans" pitchFamily="34" charset="-122"/>
                <a:cs typeface="Funnel Sans" pitchFamily="34" charset="-120"/>
              </a:rPr>
              <a:t>Leverages Supabase for hosting, authentication, real-time features, and row-level security.</a:t>
            </a:r>
            <a:endParaRPr lang="en-US" sz="1600" dirty="0"/>
          </a:p>
        </p:txBody>
      </p:sp>
      <p:pic>
        <p:nvPicPr>
          <p:cNvPr id="11" name="Image 2" descr="preencoded.png"/>
          <p:cNvPicPr>
            <a:picLocks noChangeAspect="1"/>
          </p:cNvPicPr>
          <p:nvPr/>
        </p:nvPicPr>
        <p:blipFill>
          <a:blip r:embed="rId5"/>
          <a:stretch>
            <a:fillRect/>
          </a:stretch>
        </p:blipFill>
        <p:spPr>
          <a:xfrm>
            <a:off x="711875" y="6453545"/>
            <a:ext cx="1017032" cy="1220510"/>
          </a:xfrm>
          <a:prstGeom prst="rect">
            <a:avLst/>
          </a:prstGeom>
        </p:spPr>
      </p:pic>
      <p:sp>
        <p:nvSpPr>
          <p:cNvPr id="12" name="Text 7"/>
          <p:cNvSpPr/>
          <p:nvPr/>
        </p:nvSpPr>
        <p:spPr>
          <a:xfrm>
            <a:off x="2033945" y="6656903"/>
            <a:ext cx="2542699" cy="317897"/>
          </a:xfrm>
          <a:prstGeom prst="rect">
            <a:avLst/>
          </a:prstGeom>
          <a:noFill/>
          <a:ln/>
        </p:spPr>
        <p:txBody>
          <a:bodyPr wrap="none" lIns="0" tIns="0" rIns="0" bIns="0" rtlCol="0" anchor="t"/>
          <a:lstStyle/>
          <a:p>
            <a:pPr marL="0" indent="0" algn="l">
              <a:lnSpc>
                <a:spcPts val="2500"/>
              </a:lnSpc>
              <a:buNone/>
            </a:pPr>
            <a:r>
              <a:rPr lang="en-US" sz="2000" dirty="0">
                <a:solidFill>
                  <a:srgbClr val="52586B"/>
                </a:solidFill>
                <a:latin typeface="Mona Sans Semi Bold" pitchFamily="34" charset="0"/>
                <a:ea typeface="Mona Sans Semi Bold" pitchFamily="34" charset="-122"/>
                <a:cs typeface="Mona Sans Semi Bold" pitchFamily="34" charset="-120"/>
              </a:rPr>
              <a:t>Data Security</a:t>
            </a:r>
            <a:endParaRPr lang="en-US" sz="2000" dirty="0"/>
          </a:p>
        </p:txBody>
      </p:sp>
      <p:sp>
        <p:nvSpPr>
          <p:cNvPr id="13" name="Text 8"/>
          <p:cNvSpPr/>
          <p:nvPr/>
        </p:nvSpPr>
        <p:spPr>
          <a:xfrm>
            <a:off x="2033945" y="7096839"/>
            <a:ext cx="11884581" cy="325517"/>
          </a:xfrm>
          <a:prstGeom prst="rect">
            <a:avLst/>
          </a:prstGeom>
          <a:noFill/>
          <a:ln/>
        </p:spPr>
        <p:txBody>
          <a:bodyPr wrap="none" lIns="0" tIns="0" rIns="0" bIns="0" rtlCol="0" anchor="t"/>
          <a:lstStyle/>
          <a:p>
            <a:pPr marL="0" indent="0" algn="l">
              <a:lnSpc>
                <a:spcPts val="2550"/>
              </a:lnSpc>
              <a:buNone/>
            </a:pPr>
            <a:r>
              <a:rPr lang="en-US" sz="1600" dirty="0">
                <a:solidFill>
                  <a:srgbClr val="52586B"/>
                </a:solidFill>
                <a:latin typeface="Funnel Sans" pitchFamily="34" charset="0"/>
                <a:ea typeface="Funnel Sans" pitchFamily="34" charset="-122"/>
                <a:cs typeface="Funnel Sans" pitchFamily="34" charset="-120"/>
              </a:rPr>
              <a:t>Encryption, secure hashing, SSL/TLS, and data anonymization for privacy.</a:t>
            </a:r>
            <a:endParaRPr lang="en-US" sz="1600" dirty="0"/>
          </a:p>
        </p:txBody>
      </p:sp>
      <p:sp>
        <p:nvSpPr>
          <p:cNvPr id="14" name="TextBox 13">
            <a:extLst>
              <a:ext uri="{FF2B5EF4-FFF2-40B4-BE49-F238E27FC236}">
                <a16:creationId xmlns:a16="http://schemas.microsoft.com/office/drawing/2014/main" id="{2CAE5216-0405-4A18-8B90-13AEA73A0201}"/>
              </a:ext>
            </a:extLst>
          </p:cNvPr>
          <p:cNvSpPr txBox="1"/>
          <p:nvPr/>
        </p:nvSpPr>
        <p:spPr>
          <a:xfrm>
            <a:off x="12599581" y="7570381"/>
            <a:ext cx="1945759" cy="659219"/>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4723" y="506611"/>
            <a:ext cx="8534162" cy="575667"/>
          </a:xfrm>
          <a:prstGeom prst="rect">
            <a:avLst/>
          </a:prstGeom>
          <a:noFill/>
          <a:ln/>
        </p:spPr>
        <p:txBody>
          <a:bodyPr wrap="none" lIns="0" tIns="0" rIns="0" bIns="0" rtlCol="0" anchor="t"/>
          <a:lstStyle/>
          <a:p>
            <a:pPr marL="0" indent="0" algn="l">
              <a:lnSpc>
                <a:spcPts val="4500"/>
              </a:lnSpc>
              <a:buNone/>
            </a:pPr>
            <a:r>
              <a:rPr lang="en-US" sz="3600" dirty="0">
                <a:solidFill>
                  <a:srgbClr val="373B48"/>
                </a:solidFill>
                <a:latin typeface="Mona Sans Semi Bold" pitchFamily="34" charset="0"/>
                <a:ea typeface="Mona Sans Semi Bold" pitchFamily="34" charset="-122"/>
                <a:cs typeface="Mona Sans Semi Bold" pitchFamily="34" charset="-120"/>
              </a:rPr>
              <a:t>Backend Implementation with FastAPI</a:t>
            </a:r>
            <a:endParaRPr lang="en-US" sz="3600" dirty="0"/>
          </a:p>
        </p:txBody>
      </p:sp>
      <p:sp>
        <p:nvSpPr>
          <p:cNvPr id="3" name="Text 1"/>
          <p:cNvSpPr/>
          <p:nvPr/>
        </p:nvSpPr>
        <p:spPr>
          <a:xfrm>
            <a:off x="644723" y="1450657"/>
            <a:ext cx="13340953" cy="589359"/>
          </a:xfrm>
          <a:prstGeom prst="rect">
            <a:avLst/>
          </a:prstGeom>
          <a:noFill/>
          <a:ln/>
        </p:spPr>
        <p:txBody>
          <a:bodyPr wrap="square" lIns="0" tIns="0" rIns="0" bIns="0" rtlCol="0" anchor="t"/>
          <a:lstStyle/>
          <a:p>
            <a:pPr marL="0" indent="0" algn="l">
              <a:lnSpc>
                <a:spcPts val="2300"/>
              </a:lnSpc>
              <a:buNone/>
            </a:pPr>
            <a:r>
              <a:rPr lang="en-US" sz="1450" dirty="0">
                <a:solidFill>
                  <a:srgbClr val="52586B"/>
                </a:solidFill>
                <a:latin typeface="Funnel Sans" pitchFamily="34" charset="0"/>
                <a:ea typeface="Funnel Sans" pitchFamily="34" charset="-122"/>
                <a:cs typeface="Funnel Sans" pitchFamily="34" charset="-120"/>
              </a:rPr>
              <a:t>The FastAPI backend employs a modular architecture, separating concerns for authentication, geofencing, facial recognition, and attendance management. It uses RESTful principles and asynchronous programming for efficient handling of concurrent requests.</a:t>
            </a:r>
            <a:endParaRPr lang="en-US" sz="1450" dirty="0"/>
          </a:p>
        </p:txBody>
      </p:sp>
      <p:sp>
        <p:nvSpPr>
          <p:cNvPr id="4" name="Text 2"/>
          <p:cNvSpPr/>
          <p:nvPr/>
        </p:nvSpPr>
        <p:spPr>
          <a:xfrm>
            <a:off x="644723" y="2247186"/>
            <a:ext cx="13340953" cy="884039"/>
          </a:xfrm>
          <a:prstGeom prst="rect">
            <a:avLst/>
          </a:prstGeom>
          <a:noFill/>
          <a:ln/>
        </p:spPr>
        <p:txBody>
          <a:bodyPr wrap="square" lIns="0" tIns="0" rIns="0" bIns="0" rtlCol="0" anchor="t"/>
          <a:lstStyle/>
          <a:p>
            <a:pPr marL="0" indent="0" algn="l">
              <a:lnSpc>
                <a:spcPts val="2300"/>
              </a:lnSpc>
              <a:buNone/>
            </a:pPr>
            <a:r>
              <a:rPr lang="en-US" sz="1450" dirty="0">
                <a:solidFill>
                  <a:srgbClr val="52586B"/>
                </a:solidFill>
                <a:latin typeface="Funnel Sans" pitchFamily="34" charset="0"/>
                <a:ea typeface="Funnel Sans" pitchFamily="34" charset="-122"/>
                <a:cs typeface="Funnel Sans" pitchFamily="34" charset="-120"/>
              </a:rPr>
              <a:t>Authentication is JWT token-based with role-based access control. Geofencing validates locations using GPS coordinates and algorithms, while facial recognition processes images for identity verification. Core attendance services manage check-in/out, calculations, and notifications, ensuring real-time updates and robust exception handling.</a:t>
            </a:r>
            <a:endParaRPr lang="en-US" sz="1450" dirty="0"/>
          </a:p>
        </p:txBody>
      </p:sp>
      <p:sp>
        <p:nvSpPr>
          <p:cNvPr id="5" name="Shape 3"/>
          <p:cNvSpPr/>
          <p:nvPr/>
        </p:nvSpPr>
        <p:spPr>
          <a:xfrm>
            <a:off x="644723" y="3338393"/>
            <a:ext cx="138113" cy="692944"/>
          </a:xfrm>
          <a:prstGeom prst="roundRect">
            <a:avLst>
              <a:gd name="adj" fmla="val 56025"/>
            </a:avLst>
          </a:prstGeom>
          <a:solidFill>
            <a:srgbClr val="E2E4E9"/>
          </a:solidFill>
          <a:ln w="7620">
            <a:solidFill>
              <a:srgbClr val="C8CACF"/>
            </a:solidFill>
            <a:prstDash val="solid"/>
          </a:ln>
        </p:spPr>
      </p:sp>
      <p:sp>
        <p:nvSpPr>
          <p:cNvPr id="6" name="Text 4"/>
          <p:cNvSpPr/>
          <p:nvPr/>
        </p:nvSpPr>
        <p:spPr>
          <a:xfrm>
            <a:off x="1059180" y="3338393"/>
            <a:ext cx="2302788" cy="287774"/>
          </a:xfrm>
          <a:prstGeom prst="rect">
            <a:avLst/>
          </a:prstGeom>
          <a:noFill/>
          <a:ln/>
        </p:spPr>
        <p:txBody>
          <a:bodyPr wrap="none" lIns="0" tIns="0" rIns="0" bIns="0" rtlCol="0" anchor="t"/>
          <a:lstStyle/>
          <a:p>
            <a:pPr marL="0" indent="0" algn="l">
              <a:lnSpc>
                <a:spcPts val="2250"/>
              </a:lnSpc>
              <a:buNone/>
            </a:pPr>
            <a:r>
              <a:rPr lang="en-US" sz="1800" dirty="0">
                <a:solidFill>
                  <a:srgbClr val="52586B"/>
                </a:solidFill>
                <a:latin typeface="Mona Sans Semi Bold" pitchFamily="34" charset="0"/>
                <a:ea typeface="Mona Sans Semi Bold" pitchFamily="34" charset="-122"/>
                <a:cs typeface="Mona Sans Semi Bold" pitchFamily="34" charset="-120"/>
              </a:rPr>
              <a:t>API Architecture</a:t>
            </a:r>
            <a:endParaRPr lang="en-US" sz="1800" dirty="0"/>
          </a:p>
        </p:txBody>
      </p:sp>
      <p:sp>
        <p:nvSpPr>
          <p:cNvPr id="7" name="Text 5"/>
          <p:cNvSpPr/>
          <p:nvPr/>
        </p:nvSpPr>
        <p:spPr>
          <a:xfrm>
            <a:off x="1059180" y="3736658"/>
            <a:ext cx="12926497" cy="294680"/>
          </a:xfrm>
          <a:prstGeom prst="rect">
            <a:avLst/>
          </a:prstGeom>
          <a:noFill/>
          <a:ln/>
        </p:spPr>
        <p:txBody>
          <a:bodyPr wrap="none" lIns="0" tIns="0" rIns="0" bIns="0" rtlCol="0" anchor="t"/>
          <a:lstStyle/>
          <a:p>
            <a:pPr marL="0" indent="0" algn="l">
              <a:lnSpc>
                <a:spcPts val="2300"/>
              </a:lnSpc>
              <a:buNone/>
            </a:pPr>
            <a:r>
              <a:rPr lang="en-US" sz="1450" dirty="0">
                <a:solidFill>
                  <a:srgbClr val="52586B"/>
                </a:solidFill>
                <a:latin typeface="Funnel Sans" pitchFamily="34" charset="0"/>
                <a:ea typeface="Funnel Sans" pitchFamily="34" charset="-122"/>
                <a:cs typeface="Funnel Sans" pitchFamily="34" charset="-120"/>
              </a:rPr>
              <a:t>Modular design with routers, middleware, and dependency injection for efficient processing.</a:t>
            </a:r>
            <a:endParaRPr lang="en-US" sz="1450" dirty="0"/>
          </a:p>
        </p:txBody>
      </p:sp>
      <p:sp>
        <p:nvSpPr>
          <p:cNvPr id="8" name="Shape 6"/>
          <p:cNvSpPr/>
          <p:nvPr/>
        </p:nvSpPr>
        <p:spPr>
          <a:xfrm>
            <a:off x="921068" y="4215527"/>
            <a:ext cx="138113" cy="692944"/>
          </a:xfrm>
          <a:prstGeom prst="roundRect">
            <a:avLst>
              <a:gd name="adj" fmla="val 56025"/>
            </a:avLst>
          </a:prstGeom>
          <a:solidFill>
            <a:srgbClr val="E2E4E9"/>
          </a:solidFill>
          <a:ln w="7620">
            <a:solidFill>
              <a:srgbClr val="C8CACF"/>
            </a:solidFill>
            <a:prstDash val="solid"/>
          </a:ln>
        </p:spPr>
      </p:sp>
      <p:sp>
        <p:nvSpPr>
          <p:cNvPr id="9" name="Text 7"/>
          <p:cNvSpPr/>
          <p:nvPr/>
        </p:nvSpPr>
        <p:spPr>
          <a:xfrm>
            <a:off x="1335524" y="4215527"/>
            <a:ext cx="2302788" cy="287774"/>
          </a:xfrm>
          <a:prstGeom prst="rect">
            <a:avLst/>
          </a:prstGeom>
          <a:noFill/>
          <a:ln/>
        </p:spPr>
        <p:txBody>
          <a:bodyPr wrap="none" lIns="0" tIns="0" rIns="0" bIns="0" rtlCol="0" anchor="t"/>
          <a:lstStyle/>
          <a:p>
            <a:pPr marL="0" indent="0" algn="l">
              <a:lnSpc>
                <a:spcPts val="2250"/>
              </a:lnSpc>
              <a:buNone/>
            </a:pPr>
            <a:r>
              <a:rPr lang="en-US" sz="1800" dirty="0">
                <a:solidFill>
                  <a:srgbClr val="52586B"/>
                </a:solidFill>
                <a:latin typeface="Mona Sans Semi Bold" pitchFamily="34" charset="0"/>
                <a:ea typeface="Mona Sans Semi Bold" pitchFamily="34" charset="-122"/>
                <a:cs typeface="Mona Sans Semi Bold" pitchFamily="34" charset="-120"/>
              </a:rPr>
              <a:t>Authentication</a:t>
            </a:r>
            <a:endParaRPr lang="en-US" sz="1800" dirty="0"/>
          </a:p>
        </p:txBody>
      </p:sp>
      <p:sp>
        <p:nvSpPr>
          <p:cNvPr id="10" name="Text 8"/>
          <p:cNvSpPr/>
          <p:nvPr/>
        </p:nvSpPr>
        <p:spPr>
          <a:xfrm>
            <a:off x="1335524" y="4613791"/>
            <a:ext cx="12650153" cy="294680"/>
          </a:xfrm>
          <a:prstGeom prst="rect">
            <a:avLst/>
          </a:prstGeom>
          <a:noFill/>
          <a:ln/>
        </p:spPr>
        <p:txBody>
          <a:bodyPr wrap="none" lIns="0" tIns="0" rIns="0" bIns="0" rtlCol="0" anchor="t"/>
          <a:lstStyle/>
          <a:p>
            <a:pPr marL="0" indent="0" algn="l">
              <a:lnSpc>
                <a:spcPts val="2300"/>
              </a:lnSpc>
              <a:buNone/>
            </a:pPr>
            <a:r>
              <a:rPr lang="en-US" sz="1450" dirty="0">
                <a:solidFill>
                  <a:srgbClr val="52586B"/>
                </a:solidFill>
                <a:latin typeface="Funnel Sans" pitchFamily="34" charset="0"/>
                <a:ea typeface="Funnel Sans" pitchFamily="34" charset="-122"/>
                <a:cs typeface="Funnel Sans" pitchFamily="34" charset="-120"/>
              </a:rPr>
              <a:t>JWT token-based authentication with role-based access control and multi-factor options.</a:t>
            </a:r>
            <a:endParaRPr lang="en-US" sz="1450" dirty="0"/>
          </a:p>
        </p:txBody>
      </p:sp>
      <p:sp>
        <p:nvSpPr>
          <p:cNvPr id="11" name="Shape 9"/>
          <p:cNvSpPr/>
          <p:nvPr/>
        </p:nvSpPr>
        <p:spPr>
          <a:xfrm>
            <a:off x="1197412" y="5092660"/>
            <a:ext cx="138113" cy="692944"/>
          </a:xfrm>
          <a:prstGeom prst="roundRect">
            <a:avLst>
              <a:gd name="adj" fmla="val 56025"/>
            </a:avLst>
          </a:prstGeom>
          <a:solidFill>
            <a:srgbClr val="E2E4E9"/>
          </a:solidFill>
          <a:ln w="7620">
            <a:solidFill>
              <a:srgbClr val="C8CACF"/>
            </a:solidFill>
            <a:prstDash val="solid"/>
          </a:ln>
        </p:spPr>
      </p:sp>
      <p:sp>
        <p:nvSpPr>
          <p:cNvPr id="12" name="Text 10"/>
          <p:cNvSpPr/>
          <p:nvPr/>
        </p:nvSpPr>
        <p:spPr>
          <a:xfrm>
            <a:off x="1611868" y="5092660"/>
            <a:ext cx="2302788" cy="287774"/>
          </a:xfrm>
          <a:prstGeom prst="rect">
            <a:avLst/>
          </a:prstGeom>
          <a:noFill/>
          <a:ln/>
        </p:spPr>
        <p:txBody>
          <a:bodyPr wrap="none" lIns="0" tIns="0" rIns="0" bIns="0" rtlCol="0" anchor="t"/>
          <a:lstStyle/>
          <a:p>
            <a:pPr marL="0" indent="0" algn="l">
              <a:lnSpc>
                <a:spcPts val="2250"/>
              </a:lnSpc>
              <a:buNone/>
            </a:pPr>
            <a:r>
              <a:rPr lang="en-US" sz="1800" dirty="0">
                <a:solidFill>
                  <a:srgbClr val="52586B"/>
                </a:solidFill>
                <a:latin typeface="Mona Sans Semi Bold" pitchFamily="34" charset="0"/>
                <a:ea typeface="Mona Sans Semi Bold" pitchFamily="34" charset="-122"/>
                <a:cs typeface="Mona Sans Semi Bold" pitchFamily="34" charset="-120"/>
              </a:rPr>
              <a:t>Geofencing</a:t>
            </a:r>
            <a:endParaRPr lang="en-US" sz="1800" dirty="0"/>
          </a:p>
        </p:txBody>
      </p:sp>
      <p:sp>
        <p:nvSpPr>
          <p:cNvPr id="13" name="Text 11"/>
          <p:cNvSpPr/>
          <p:nvPr/>
        </p:nvSpPr>
        <p:spPr>
          <a:xfrm>
            <a:off x="1611868" y="5490924"/>
            <a:ext cx="12373808" cy="294680"/>
          </a:xfrm>
          <a:prstGeom prst="rect">
            <a:avLst/>
          </a:prstGeom>
          <a:noFill/>
          <a:ln/>
        </p:spPr>
        <p:txBody>
          <a:bodyPr wrap="none" lIns="0" tIns="0" rIns="0" bIns="0" rtlCol="0" anchor="t"/>
          <a:lstStyle/>
          <a:p>
            <a:pPr marL="0" indent="0" algn="l">
              <a:lnSpc>
                <a:spcPts val="2300"/>
              </a:lnSpc>
              <a:buNone/>
            </a:pPr>
            <a:r>
              <a:rPr lang="en-US" sz="1450" dirty="0">
                <a:solidFill>
                  <a:srgbClr val="52586B"/>
                </a:solidFill>
                <a:latin typeface="Funnel Sans" pitchFamily="34" charset="0"/>
                <a:ea typeface="Funnel Sans" pitchFamily="34" charset="-122"/>
                <a:cs typeface="Funnel Sans" pitchFamily="34" charset="-120"/>
              </a:rPr>
              <a:t>Validates employee locations against predefined boundaries using GPS coordinates.</a:t>
            </a:r>
            <a:endParaRPr lang="en-US" sz="1450" dirty="0"/>
          </a:p>
        </p:txBody>
      </p:sp>
      <p:sp>
        <p:nvSpPr>
          <p:cNvPr id="14" name="Shape 12"/>
          <p:cNvSpPr/>
          <p:nvPr/>
        </p:nvSpPr>
        <p:spPr>
          <a:xfrm>
            <a:off x="1473756" y="5969794"/>
            <a:ext cx="138113" cy="692944"/>
          </a:xfrm>
          <a:prstGeom prst="roundRect">
            <a:avLst>
              <a:gd name="adj" fmla="val 56025"/>
            </a:avLst>
          </a:prstGeom>
          <a:solidFill>
            <a:srgbClr val="E2E4E9"/>
          </a:solidFill>
          <a:ln w="7620">
            <a:solidFill>
              <a:srgbClr val="C8CACF"/>
            </a:solidFill>
            <a:prstDash val="solid"/>
          </a:ln>
        </p:spPr>
      </p:sp>
      <p:sp>
        <p:nvSpPr>
          <p:cNvPr id="15" name="Text 13"/>
          <p:cNvSpPr/>
          <p:nvPr/>
        </p:nvSpPr>
        <p:spPr>
          <a:xfrm>
            <a:off x="1888212" y="5969794"/>
            <a:ext cx="2302788" cy="287774"/>
          </a:xfrm>
          <a:prstGeom prst="rect">
            <a:avLst/>
          </a:prstGeom>
          <a:noFill/>
          <a:ln/>
        </p:spPr>
        <p:txBody>
          <a:bodyPr wrap="none" lIns="0" tIns="0" rIns="0" bIns="0" rtlCol="0" anchor="t"/>
          <a:lstStyle/>
          <a:p>
            <a:pPr marL="0" indent="0" algn="l">
              <a:lnSpc>
                <a:spcPts val="2250"/>
              </a:lnSpc>
              <a:buNone/>
            </a:pPr>
            <a:r>
              <a:rPr lang="en-US" sz="1800" dirty="0">
                <a:solidFill>
                  <a:srgbClr val="52586B"/>
                </a:solidFill>
                <a:latin typeface="Mona Sans Semi Bold" pitchFamily="34" charset="0"/>
                <a:ea typeface="Mona Sans Semi Bold" pitchFamily="34" charset="-122"/>
                <a:cs typeface="Mona Sans Semi Bold" pitchFamily="34" charset="-120"/>
              </a:rPr>
              <a:t>Facial Recognition</a:t>
            </a:r>
            <a:endParaRPr lang="en-US" sz="1800" dirty="0"/>
          </a:p>
        </p:txBody>
      </p:sp>
      <p:sp>
        <p:nvSpPr>
          <p:cNvPr id="16" name="Text 14"/>
          <p:cNvSpPr/>
          <p:nvPr/>
        </p:nvSpPr>
        <p:spPr>
          <a:xfrm>
            <a:off x="1888212" y="6368058"/>
            <a:ext cx="12097464" cy="294680"/>
          </a:xfrm>
          <a:prstGeom prst="rect">
            <a:avLst/>
          </a:prstGeom>
          <a:noFill/>
          <a:ln/>
        </p:spPr>
        <p:txBody>
          <a:bodyPr wrap="none" lIns="0" tIns="0" rIns="0" bIns="0" rtlCol="0" anchor="t"/>
          <a:lstStyle/>
          <a:p>
            <a:pPr marL="0" indent="0" algn="l">
              <a:lnSpc>
                <a:spcPts val="2300"/>
              </a:lnSpc>
              <a:buNone/>
            </a:pPr>
            <a:r>
              <a:rPr lang="en-US" sz="1450" dirty="0">
                <a:solidFill>
                  <a:srgbClr val="52586B"/>
                </a:solidFill>
                <a:latin typeface="Funnel Sans" pitchFamily="34" charset="0"/>
                <a:ea typeface="Funnel Sans" pitchFamily="34" charset="-122"/>
                <a:cs typeface="Funnel Sans" pitchFamily="34" charset="-120"/>
              </a:rPr>
              <a:t>Processes images for identity verification, with optimization for various conditions.</a:t>
            </a:r>
            <a:endParaRPr lang="en-US" sz="1450" dirty="0"/>
          </a:p>
        </p:txBody>
      </p:sp>
      <p:sp>
        <p:nvSpPr>
          <p:cNvPr id="17" name="Shape 15"/>
          <p:cNvSpPr/>
          <p:nvPr/>
        </p:nvSpPr>
        <p:spPr>
          <a:xfrm>
            <a:off x="1197412" y="6846927"/>
            <a:ext cx="138113" cy="692944"/>
          </a:xfrm>
          <a:prstGeom prst="roundRect">
            <a:avLst>
              <a:gd name="adj" fmla="val 56025"/>
            </a:avLst>
          </a:prstGeom>
          <a:solidFill>
            <a:srgbClr val="E2E4E9"/>
          </a:solidFill>
          <a:ln w="7620">
            <a:solidFill>
              <a:srgbClr val="C8CACF"/>
            </a:solidFill>
            <a:prstDash val="solid"/>
          </a:ln>
        </p:spPr>
      </p:sp>
      <p:sp>
        <p:nvSpPr>
          <p:cNvPr id="18" name="Text 16"/>
          <p:cNvSpPr/>
          <p:nvPr/>
        </p:nvSpPr>
        <p:spPr>
          <a:xfrm>
            <a:off x="1611868" y="6846927"/>
            <a:ext cx="2305050" cy="287774"/>
          </a:xfrm>
          <a:prstGeom prst="rect">
            <a:avLst/>
          </a:prstGeom>
          <a:noFill/>
          <a:ln/>
        </p:spPr>
        <p:txBody>
          <a:bodyPr wrap="none" lIns="0" tIns="0" rIns="0" bIns="0" rtlCol="0" anchor="t"/>
          <a:lstStyle/>
          <a:p>
            <a:pPr marL="0" indent="0" algn="l">
              <a:lnSpc>
                <a:spcPts val="2250"/>
              </a:lnSpc>
              <a:buNone/>
            </a:pPr>
            <a:r>
              <a:rPr lang="en-US" sz="1800" dirty="0">
                <a:solidFill>
                  <a:srgbClr val="52586B"/>
                </a:solidFill>
                <a:latin typeface="Mona Sans Semi Bold" pitchFamily="34" charset="0"/>
                <a:ea typeface="Mona Sans Semi Bold" pitchFamily="34" charset="-122"/>
                <a:cs typeface="Mona Sans Semi Bold" pitchFamily="34" charset="-120"/>
              </a:rPr>
              <a:t>Attendance Services</a:t>
            </a:r>
            <a:endParaRPr lang="en-US" sz="1800" dirty="0"/>
          </a:p>
        </p:txBody>
      </p:sp>
      <p:sp>
        <p:nvSpPr>
          <p:cNvPr id="19" name="Text 17"/>
          <p:cNvSpPr/>
          <p:nvPr/>
        </p:nvSpPr>
        <p:spPr>
          <a:xfrm>
            <a:off x="1611868" y="7245191"/>
            <a:ext cx="12373808" cy="294680"/>
          </a:xfrm>
          <a:prstGeom prst="rect">
            <a:avLst/>
          </a:prstGeom>
          <a:noFill/>
          <a:ln/>
        </p:spPr>
        <p:txBody>
          <a:bodyPr wrap="none" lIns="0" tIns="0" rIns="0" bIns="0" rtlCol="0" anchor="t"/>
          <a:lstStyle/>
          <a:p>
            <a:pPr marL="0" indent="0" algn="l">
              <a:lnSpc>
                <a:spcPts val="2300"/>
              </a:lnSpc>
              <a:buNone/>
            </a:pPr>
            <a:r>
              <a:rPr lang="en-US" sz="1450" dirty="0">
                <a:solidFill>
                  <a:srgbClr val="52586B"/>
                </a:solidFill>
                <a:latin typeface="Funnel Sans" pitchFamily="34" charset="0"/>
                <a:ea typeface="Funnel Sans" pitchFamily="34" charset="-122"/>
                <a:cs typeface="Funnel Sans" pitchFamily="34" charset="-120"/>
              </a:rPr>
              <a:t>Handles check-in/out, calculations, and notifications with real-time updates.</a:t>
            </a:r>
            <a:endParaRPr lang="en-US" sz="1450" dirty="0"/>
          </a:p>
        </p:txBody>
      </p:sp>
      <p:sp>
        <p:nvSpPr>
          <p:cNvPr id="20" name="TextBox 19">
            <a:extLst>
              <a:ext uri="{FF2B5EF4-FFF2-40B4-BE49-F238E27FC236}">
                <a16:creationId xmlns:a16="http://schemas.microsoft.com/office/drawing/2014/main" id="{2CE78E98-41D0-4B9F-AF61-863712828976}"/>
              </a:ext>
            </a:extLst>
          </p:cNvPr>
          <p:cNvSpPr txBox="1"/>
          <p:nvPr/>
        </p:nvSpPr>
        <p:spPr>
          <a:xfrm>
            <a:off x="12578316" y="7400260"/>
            <a:ext cx="2052084" cy="82934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72108" y="528042"/>
            <a:ext cx="8890278" cy="600194"/>
          </a:xfrm>
          <a:prstGeom prst="rect">
            <a:avLst/>
          </a:prstGeom>
          <a:noFill/>
          <a:ln/>
        </p:spPr>
        <p:txBody>
          <a:bodyPr wrap="none" lIns="0" tIns="0" rIns="0" bIns="0" rtlCol="0" anchor="t"/>
          <a:lstStyle/>
          <a:p>
            <a:pPr marL="0" indent="0" algn="l">
              <a:lnSpc>
                <a:spcPts val="4700"/>
              </a:lnSpc>
              <a:buNone/>
            </a:pPr>
            <a:r>
              <a:rPr lang="en-US" sz="3750" dirty="0">
                <a:solidFill>
                  <a:srgbClr val="373B48"/>
                </a:solidFill>
                <a:latin typeface="Mona Sans Semi Bold" pitchFamily="34" charset="0"/>
                <a:ea typeface="Mona Sans Semi Bold" pitchFamily="34" charset="-122"/>
                <a:cs typeface="Mona Sans Semi Bold" pitchFamily="34" charset="-120"/>
              </a:rPr>
              <a:t>Optimization, Security, and Monitoring</a:t>
            </a:r>
            <a:endParaRPr lang="en-US" sz="3750" dirty="0"/>
          </a:p>
        </p:txBody>
      </p:sp>
      <p:sp>
        <p:nvSpPr>
          <p:cNvPr id="3" name="Text 1"/>
          <p:cNvSpPr/>
          <p:nvPr/>
        </p:nvSpPr>
        <p:spPr>
          <a:xfrm>
            <a:off x="672108" y="1512332"/>
            <a:ext cx="13286184" cy="614363"/>
          </a:xfrm>
          <a:prstGeom prst="rect">
            <a:avLst/>
          </a:prstGeom>
          <a:noFill/>
          <a:ln/>
        </p:spPr>
        <p:txBody>
          <a:bodyPr wrap="square" lIns="0" tIns="0" rIns="0" bIns="0" rtlCol="0" anchor="t"/>
          <a:lstStyle/>
          <a:p>
            <a:pPr marL="0" indent="0" algn="l">
              <a:lnSpc>
                <a:spcPts val="2400"/>
              </a:lnSpc>
              <a:buNone/>
            </a:pPr>
            <a:r>
              <a:rPr lang="en-US" sz="1500" dirty="0">
                <a:solidFill>
                  <a:srgbClr val="52586B"/>
                </a:solidFill>
                <a:latin typeface="Funnel Sans" pitchFamily="34" charset="0"/>
                <a:ea typeface="Funnel Sans" pitchFamily="34" charset="-122"/>
                <a:cs typeface="Funnel Sans" pitchFamily="34" charset="-120"/>
              </a:rPr>
              <a:t>Performance optimization includes strategic indexing, query caching, and batch processing. Scalability is achieved through horizontal scaling, load balancing, and database partitioning, supporting containerization and auto-scaling.</a:t>
            </a:r>
            <a:endParaRPr lang="en-US" sz="1500" dirty="0"/>
          </a:p>
        </p:txBody>
      </p:sp>
      <p:sp>
        <p:nvSpPr>
          <p:cNvPr id="4" name="Text 2"/>
          <p:cNvSpPr/>
          <p:nvPr/>
        </p:nvSpPr>
        <p:spPr>
          <a:xfrm>
            <a:off x="672108" y="2342674"/>
            <a:ext cx="13286184" cy="921544"/>
          </a:xfrm>
          <a:prstGeom prst="rect">
            <a:avLst/>
          </a:prstGeom>
          <a:noFill/>
          <a:ln/>
        </p:spPr>
        <p:txBody>
          <a:bodyPr wrap="square" lIns="0" tIns="0" rIns="0" bIns="0" rtlCol="0" anchor="t"/>
          <a:lstStyle/>
          <a:p>
            <a:pPr marL="0" indent="0" algn="l">
              <a:lnSpc>
                <a:spcPts val="2400"/>
              </a:lnSpc>
              <a:buNone/>
            </a:pPr>
            <a:r>
              <a:rPr lang="en-US" sz="1500" dirty="0">
                <a:solidFill>
                  <a:srgbClr val="52586B"/>
                </a:solidFill>
                <a:latin typeface="Funnel Sans" pitchFamily="34" charset="0"/>
                <a:ea typeface="Funnel Sans" pitchFamily="34" charset="-122"/>
                <a:cs typeface="Funnel Sans" pitchFamily="34" charset="-120"/>
              </a:rPr>
              <a:t>Security measures encompass data protection (encryption, masking), API security (rate limiting, input validation), and secure token management. Comprehensive monitoring tracks performance, API response times, and health metrics, with regular maintenance procedures for database optimization, backups, and updates.</a:t>
            </a:r>
            <a:endParaRPr lang="en-US" sz="1500" dirty="0"/>
          </a:p>
        </p:txBody>
      </p:sp>
      <p:sp>
        <p:nvSpPr>
          <p:cNvPr id="5" name="Text 3"/>
          <p:cNvSpPr/>
          <p:nvPr/>
        </p:nvSpPr>
        <p:spPr>
          <a:xfrm>
            <a:off x="1615797" y="4055864"/>
            <a:ext cx="3086338" cy="300038"/>
          </a:xfrm>
          <a:prstGeom prst="rect">
            <a:avLst/>
          </a:prstGeom>
          <a:noFill/>
          <a:ln/>
        </p:spPr>
        <p:txBody>
          <a:bodyPr wrap="none" lIns="0" tIns="0" rIns="0" bIns="0" rtlCol="0" anchor="t"/>
          <a:lstStyle/>
          <a:p>
            <a:pPr marL="0" indent="0" algn="r">
              <a:lnSpc>
                <a:spcPts val="2350"/>
              </a:lnSpc>
              <a:buNone/>
            </a:pPr>
            <a:r>
              <a:rPr lang="en-US" sz="1850" dirty="0">
                <a:solidFill>
                  <a:srgbClr val="52586B"/>
                </a:solidFill>
                <a:latin typeface="Mona Sans Semi Bold" pitchFamily="34" charset="0"/>
                <a:ea typeface="Mona Sans Semi Bold" pitchFamily="34" charset="-122"/>
                <a:cs typeface="Mona Sans Semi Bold" pitchFamily="34" charset="-120"/>
              </a:rPr>
              <a:t>Performance Optimization</a:t>
            </a:r>
            <a:endParaRPr lang="en-US" sz="1850" dirty="0"/>
          </a:p>
        </p:txBody>
      </p:sp>
      <p:sp>
        <p:nvSpPr>
          <p:cNvPr id="6" name="Text 4"/>
          <p:cNvSpPr/>
          <p:nvPr/>
        </p:nvSpPr>
        <p:spPr>
          <a:xfrm>
            <a:off x="672108" y="4471035"/>
            <a:ext cx="4030028" cy="614363"/>
          </a:xfrm>
          <a:prstGeom prst="rect">
            <a:avLst/>
          </a:prstGeom>
          <a:noFill/>
          <a:ln/>
        </p:spPr>
        <p:txBody>
          <a:bodyPr wrap="square" lIns="0" tIns="0" rIns="0" bIns="0" rtlCol="0" anchor="t"/>
          <a:lstStyle/>
          <a:p>
            <a:pPr marL="0" indent="0" algn="r">
              <a:lnSpc>
                <a:spcPts val="2400"/>
              </a:lnSpc>
              <a:buNone/>
            </a:pPr>
            <a:r>
              <a:rPr lang="en-US" sz="1500" dirty="0">
                <a:solidFill>
                  <a:srgbClr val="52586B"/>
                </a:solidFill>
                <a:latin typeface="Funnel Sans" pitchFamily="34" charset="0"/>
                <a:ea typeface="Funnel Sans" pitchFamily="34" charset="-122"/>
                <a:cs typeface="Funnel Sans" pitchFamily="34" charset="-120"/>
              </a:rPr>
              <a:t>Indexing, query caching, and batch processing for efficiency.</a:t>
            </a:r>
            <a:endParaRPr lang="en-US" sz="1500" dirty="0"/>
          </a:p>
        </p:txBody>
      </p:sp>
      <p:pic>
        <p:nvPicPr>
          <p:cNvPr id="7" name="Image 0" descr="preencoded.png"/>
          <p:cNvPicPr>
            <a:picLocks noChangeAspect="1"/>
          </p:cNvPicPr>
          <p:nvPr/>
        </p:nvPicPr>
        <p:blipFill>
          <a:blip r:embed="rId3"/>
          <a:stretch>
            <a:fillRect/>
          </a:stretch>
        </p:blipFill>
        <p:spPr>
          <a:xfrm>
            <a:off x="4990148" y="3480197"/>
            <a:ext cx="4650105" cy="4650105"/>
          </a:xfrm>
          <a:prstGeom prst="rect">
            <a:avLst/>
          </a:prstGeom>
        </p:spPr>
      </p:pic>
      <p:pic>
        <p:nvPicPr>
          <p:cNvPr id="8" name="Image 1" descr="preencoded.png"/>
          <p:cNvPicPr>
            <a:picLocks noChangeAspect="1"/>
          </p:cNvPicPr>
          <p:nvPr/>
        </p:nvPicPr>
        <p:blipFill>
          <a:blip r:embed="rId4"/>
          <a:stretch>
            <a:fillRect/>
          </a:stretch>
        </p:blipFill>
        <p:spPr>
          <a:xfrm>
            <a:off x="6235541" y="4294108"/>
            <a:ext cx="287298" cy="359092"/>
          </a:xfrm>
          <a:prstGeom prst="rect">
            <a:avLst/>
          </a:prstGeom>
        </p:spPr>
      </p:pic>
      <p:sp>
        <p:nvSpPr>
          <p:cNvPr id="9" name="Text 5"/>
          <p:cNvSpPr/>
          <p:nvPr/>
        </p:nvSpPr>
        <p:spPr>
          <a:xfrm>
            <a:off x="9928265" y="4055864"/>
            <a:ext cx="2400538" cy="300038"/>
          </a:xfrm>
          <a:prstGeom prst="rect">
            <a:avLst/>
          </a:prstGeom>
          <a:noFill/>
          <a:ln/>
        </p:spPr>
        <p:txBody>
          <a:bodyPr wrap="none" lIns="0" tIns="0" rIns="0" bIns="0" rtlCol="0" anchor="t"/>
          <a:lstStyle/>
          <a:p>
            <a:pPr marL="0" indent="0" algn="l">
              <a:lnSpc>
                <a:spcPts val="2350"/>
              </a:lnSpc>
              <a:buNone/>
            </a:pPr>
            <a:r>
              <a:rPr lang="en-US" sz="1850" dirty="0">
                <a:solidFill>
                  <a:srgbClr val="52586B"/>
                </a:solidFill>
                <a:latin typeface="Mona Sans Semi Bold" pitchFamily="34" charset="0"/>
                <a:ea typeface="Mona Sans Semi Bold" pitchFamily="34" charset="-122"/>
                <a:cs typeface="Mona Sans Semi Bold" pitchFamily="34" charset="-120"/>
              </a:rPr>
              <a:t>Scalability</a:t>
            </a:r>
            <a:endParaRPr lang="en-US" sz="1850" dirty="0"/>
          </a:p>
        </p:txBody>
      </p:sp>
      <p:sp>
        <p:nvSpPr>
          <p:cNvPr id="10" name="Text 6"/>
          <p:cNvSpPr/>
          <p:nvPr/>
        </p:nvSpPr>
        <p:spPr>
          <a:xfrm>
            <a:off x="9928265" y="4471035"/>
            <a:ext cx="4030028" cy="614363"/>
          </a:xfrm>
          <a:prstGeom prst="rect">
            <a:avLst/>
          </a:prstGeom>
          <a:noFill/>
          <a:ln/>
        </p:spPr>
        <p:txBody>
          <a:bodyPr wrap="square" lIns="0" tIns="0" rIns="0" bIns="0" rtlCol="0" anchor="t"/>
          <a:lstStyle/>
          <a:p>
            <a:pPr marL="0" indent="0" algn="l">
              <a:lnSpc>
                <a:spcPts val="2400"/>
              </a:lnSpc>
              <a:buNone/>
            </a:pPr>
            <a:r>
              <a:rPr lang="en-US" sz="1500" dirty="0">
                <a:solidFill>
                  <a:srgbClr val="52586B"/>
                </a:solidFill>
                <a:latin typeface="Funnel Sans" pitchFamily="34" charset="0"/>
                <a:ea typeface="Funnel Sans" pitchFamily="34" charset="-122"/>
                <a:cs typeface="Funnel Sans" pitchFamily="34" charset="-120"/>
              </a:rPr>
              <a:t>Horizontal scaling, load balancing, and database partitioning for growth.</a:t>
            </a:r>
            <a:endParaRPr lang="en-US" sz="1500" dirty="0"/>
          </a:p>
        </p:txBody>
      </p:sp>
      <p:pic>
        <p:nvPicPr>
          <p:cNvPr id="11" name="Image 2" descr="preencoded.png"/>
          <p:cNvPicPr>
            <a:picLocks noChangeAspect="1"/>
          </p:cNvPicPr>
          <p:nvPr/>
        </p:nvPicPr>
        <p:blipFill>
          <a:blip r:embed="rId5"/>
          <a:stretch>
            <a:fillRect/>
          </a:stretch>
        </p:blipFill>
        <p:spPr>
          <a:xfrm>
            <a:off x="4990148" y="3480197"/>
            <a:ext cx="4650105" cy="4650105"/>
          </a:xfrm>
          <a:prstGeom prst="rect">
            <a:avLst/>
          </a:prstGeom>
        </p:spPr>
      </p:pic>
      <p:pic>
        <p:nvPicPr>
          <p:cNvPr id="12" name="Image 3" descr="preencoded.png"/>
          <p:cNvPicPr>
            <a:picLocks noChangeAspect="1"/>
          </p:cNvPicPr>
          <p:nvPr/>
        </p:nvPicPr>
        <p:blipFill>
          <a:blip r:embed="rId6"/>
          <a:stretch>
            <a:fillRect/>
          </a:stretch>
        </p:blipFill>
        <p:spPr>
          <a:xfrm>
            <a:off x="8502968" y="4689753"/>
            <a:ext cx="287298" cy="359092"/>
          </a:xfrm>
          <a:prstGeom prst="rect">
            <a:avLst/>
          </a:prstGeom>
        </p:spPr>
      </p:pic>
      <p:sp>
        <p:nvSpPr>
          <p:cNvPr id="13" name="Text 7"/>
          <p:cNvSpPr/>
          <p:nvPr/>
        </p:nvSpPr>
        <p:spPr>
          <a:xfrm>
            <a:off x="9928265" y="6524982"/>
            <a:ext cx="2874883" cy="300038"/>
          </a:xfrm>
          <a:prstGeom prst="rect">
            <a:avLst/>
          </a:prstGeom>
          <a:noFill/>
          <a:ln/>
        </p:spPr>
        <p:txBody>
          <a:bodyPr wrap="none" lIns="0" tIns="0" rIns="0" bIns="0" rtlCol="0" anchor="t"/>
          <a:lstStyle/>
          <a:p>
            <a:pPr marL="0" indent="0" algn="l">
              <a:lnSpc>
                <a:spcPts val="2350"/>
              </a:lnSpc>
              <a:buNone/>
            </a:pPr>
            <a:r>
              <a:rPr lang="en-US" sz="1850" dirty="0">
                <a:solidFill>
                  <a:srgbClr val="52586B"/>
                </a:solidFill>
                <a:latin typeface="Mona Sans Semi Bold" pitchFamily="34" charset="0"/>
                <a:ea typeface="Mona Sans Semi Bold" pitchFamily="34" charset="-122"/>
                <a:cs typeface="Mona Sans Semi Bold" pitchFamily="34" charset="-120"/>
              </a:rPr>
              <a:t>Security Implementation</a:t>
            </a:r>
            <a:endParaRPr lang="en-US" sz="1850" dirty="0"/>
          </a:p>
        </p:txBody>
      </p:sp>
      <p:sp>
        <p:nvSpPr>
          <p:cNvPr id="14" name="Text 8"/>
          <p:cNvSpPr/>
          <p:nvPr/>
        </p:nvSpPr>
        <p:spPr>
          <a:xfrm>
            <a:off x="9928265" y="6940153"/>
            <a:ext cx="4030028" cy="614363"/>
          </a:xfrm>
          <a:prstGeom prst="rect">
            <a:avLst/>
          </a:prstGeom>
          <a:noFill/>
          <a:ln/>
        </p:spPr>
        <p:txBody>
          <a:bodyPr wrap="square" lIns="0" tIns="0" rIns="0" bIns="0" rtlCol="0" anchor="t"/>
          <a:lstStyle/>
          <a:p>
            <a:pPr marL="0" indent="0" algn="l">
              <a:lnSpc>
                <a:spcPts val="2400"/>
              </a:lnSpc>
              <a:buNone/>
            </a:pPr>
            <a:r>
              <a:rPr lang="en-US" sz="1500" dirty="0">
                <a:solidFill>
                  <a:srgbClr val="52586B"/>
                </a:solidFill>
                <a:latin typeface="Funnel Sans" pitchFamily="34" charset="0"/>
                <a:ea typeface="Funnel Sans" pitchFamily="34" charset="-122"/>
                <a:cs typeface="Funnel Sans" pitchFamily="34" charset="-120"/>
              </a:rPr>
              <a:t>Data encryption, API security, and secure token management.</a:t>
            </a:r>
            <a:endParaRPr lang="en-US" sz="1500" dirty="0"/>
          </a:p>
        </p:txBody>
      </p:sp>
      <p:pic>
        <p:nvPicPr>
          <p:cNvPr id="15" name="Image 4" descr="preencoded.png"/>
          <p:cNvPicPr>
            <a:picLocks noChangeAspect="1"/>
          </p:cNvPicPr>
          <p:nvPr/>
        </p:nvPicPr>
        <p:blipFill>
          <a:blip r:embed="rId7"/>
          <a:stretch>
            <a:fillRect/>
          </a:stretch>
        </p:blipFill>
        <p:spPr>
          <a:xfrm>
            <a:off x="4990148" y="3480197"/>
            <a:ext cx="4650105" cy="4650105"/>
          </a:xfrm>
          <a:prstGeom prst="rect">
            <a:avLst/>
          </a:prstGeom>
        </p:spPr>
      </p:pic>
      <p:pic>
        <p:nvPicPr>
          <p:cNvPr id="16" name="Image 5" descr="preencoded.png"/>
          <p:cNvPicPr>
            <a:picLocks noChangeAspect="1"/>
          </p:cNvPicPr>
          <p:nvPr/>
        </p:nvPicPr>
        <p:blipFill>
          <a:blip r:embed="rId8"/>
          <a:stretch>
            <a:fillRect/>
          </a:stretch>
        </p:blipFill>
        <p:spPr>
          <a:xfrm>
            <a:off x="8107323" y="6957179"/>
            <a:ext cx="287298" cy="359092"/>
          </a:xfrm>
          <a:prstGeom prst="rect">
            <a:avLst/>
          </a:prstGeom>
        </p:spPr>
      </p:pic>
      <p:sp>
        <p:nvSpPr>
          <p:cNvPr id="17" name="Text 9"/>
          <p:cNvSpPr/>
          <p:nvPr/>
        </p:nvSpPr>
        <p:spPr>
          <a:xfrm>
            <a:off x="1622227" y="6524982"/>
            <a:ext cx="3079909" cy="300038"/>
          </a:xfrm>
          <a:prstGeom prst="rect">
            <a:avLst/>
          </a:prstGeom>
          <a:noFill/>
          <a:ln/>
        </p:spPr>
        <p:txBody>
          <a:bodyPr wrap="none" lIns="0" tIns="0" rIns="0" bIns="0" rtlCol="0" anchor="t"/>
          <a:lstStyle/>
          <a:p>
            <a:pPr marL="0" indent="0" algn="r">
              <a:lnSpc>
                <a:spcPts val="2350"/>
              </a:lnSpc>
              <a:buNone/>
            </a:pPr>
            <a:r>
              <a:rPr lang="en-US" sz="1850" dirty="0">
                <a:solidFill>
                  <a:srgbClr val="52586B"/>
                </a:solidFill>
                <a:latin typeface="Mona Sans Semi Bold" pitchFamily="34" charset="0"/>
                <a:ea typeface="Mona Sans Semi Bold" pitchFamily="34" charset="-122"/>
                <a:cs typeface="Mona Sans Semi Bold" pitchFamily="34" charset="-120"/>
              </a:rPr>
              <a:t>Monitoring &amp; Maintenance</a:t>
            </a:r>
            <a:endParaRPr lang="en-US" sz="1850" dirty="0"/>
          </a:p>
        </p:txBody>
      </p:sp>
      <p:sp>
        <p:nvSpPr>
          <p:cNvPr id="18" name="Text 10"/>
          <p:cNvSpPr/>
          <p:nvPr/>
        </p:nvSpPr>
        <p:spPr>
          <a:xfrm>
            <a:off x="672108" y="6940153"/>
            <a:ext cx="4030028" cy="614363"/>
          </a:xfrm>
          <a:prstGeom prst="rect">
            <a:avLst/>
          </a:prstGeom>
          <a:noFill/>
          <a:ln/>
        </p:spPr>
        <p:txBody>
          <a:bodyPr wrap="square" lIns="0" tIns="0" rIns="0" bIns="0" rtlCol="0" anchor="t"/>
          <a:lstStyle/>
          <a:p>
            <a:pPr marL="0" indent="0" algn="r">
              <a:lnSpc>
                <a:spcPts val="2400"/>
              </a:lnSpc>
              <a:buNone/>
            </a:pPr>
            <a:r>
              <a:rPr lang="en-US" sz="1500" dirty="0">
                <a:solidFill>
                  <a:srgbClr val="52586B"/>
                </a:solidFill>
                <a:latin typeface="Funnel Sans" pitchFamily="34" charset="0"/>
                <a:ea typeface="Funnel Sans" pitchFamily="34" charset="-122"/>
                <a:cs typeface="Funnel Sans" pitchFamily="34" charset="-120"/>
              </a:rPr>
              <a:t>Real-time tracking, alerts, and regular procedures for system health.</a:t>
            </a:r>
            <a:endParaRPr lang="en-US" sz="1500" dirty="0"/>
          </a:p>
        </p:txBody>
      </p:sp>
      <p:pic>
        <p:nvPicPr>
          <p:cNvPr id="19" name="Image 6" descr="preencoded.png"/>
          <p:cNvPicPr>
            <a:picLocks noChangeAspect="1"/>
          </p:cNvPicPr>
          <p:nvPr/>
        </p:nvPicPr>
        <p:blipFill>
          <a:blip r:embed="rId9"/>
          <a:stretch>
            <a:fillRect/>
          </a:stretch>
        </p:blipFill>
        <p:spPr>
          <a:xfrm>
            <a:off x="4990148" y="3480197"/>
            <a:ext cx="4650105" cy="4650105"/>
          </a:xfrm>
          <a:prstGeom prst="rect">
            <a:avLst/>
          </a:prstGeom>
        </p:spPr>
      </p:pic>
      <p:pic>
        <p:nvPicPr>
          <p:cNvPr id="20" name="Image 7" descr="preencoded.png"/>
          <p:cNvPicPr>
            <a:picLocks noChangeAspect="1"/>
          </p:cNvPicPr>
          <p:nvPr/>
        </p:nvPicPr>
        <p:blipFill>
          <a:blip r:embed="rId10"/>
          <a:stretch>
            <a:fillRect/>
          </a:stretch>
        </p:blipFill>
        <p:spPr>
          <a:xfrm>
            <a:off x="5839897" y="6561534"/>
            <a:ext cx="287298" cy="359092"/>
          </a:xfrm>
          <a:prstGeom prst="rect">
            <a:avLst/>
          </a:prstGeom>
        </p:spPr>
      </p:pic>
      <p:sp>
        <p:nvSpPr>
          <p:cNvPr id="21" name="TextBox 20">
            <a:extLst>
              <a:ext uri="{FF2B5EF4-FFF2-40B4-BE49-F238E27FC236}">
                <a16:creationId xmlns:a16="http://schemas.microsoft.com/office/drawing/2014/main" id="{8E8BB2AB-B121-4986-B2FC-DC16124E8D2F}"/>
              </a:ext>
            </a:extLst>
          </p:cNvPr>
          <p:cNvSpPr txBox="1"/>
          <p:nvPr/>
        </p:nvSpPr>
        <p:spPr>
          <a:xfrm>
            <a:off x="12663377" y="7554516"/>
            <a:ext cx="1967023" cy="614363"/>
          </a:xfrm>
          <a:prstGeom prst="rect">
            <a:avLst/>
          </a:prstGeom>
          <a:solidFill>
            <a:schemeClr val="bg1"/>
          </a:solidFill>
        </p:spPr>
        <p:txBody>
          <a:bodyPr wrap="square" rtlCol="0">
            <a:spAutoFit/>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1423</Words>
  <Application>Microsoft Office PowerPoint</Application>
  <PresentationFormat>Custom</PresentationFormat>
  <Paragraphs>138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Funnel Sans</vt:lpstr>
      <vt:lpstr>Mona Sans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VERENA</cp:lastModifiedBy>
  <cp:revision>2</cp:revision>
  <dcterms:created xsi:type="dcterms:W3CDTF">2025-06-09T17:47:39Z</dcterms:created>
  <dcterms:modified xsi:type="dcterms:W3CDTF">2025-06-09T21:20:45Z</dcterms:modified>
</cp:coreProperties>
</file>