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821180"/>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FFFFFF"/>
                </a:solidFill>
                <a:latin typeface="Inter Bold" pitchFamily="34" charset="0"/>
                <a:ea typeface="Inter Bold" pitchFamily="34" charset="-122"/>
                <a:cs typeface="Inter Bold" pitchFamily="34" charset="-120"/>
              </a:rPr>
              <a:t>AttendEase: Smart Attendance Management</a:t>
            </a:r>
            <a:endParaRPr lang="en-US" sz="4450" dirty="0"/>
          </a:p>
        </p:txBody>
      </p:sp>
      <p:sp>
        <p:nvSpPr>
          <p:cNvPr id="4" name="Text 1"/>
          <p:cNvSpPr/>
          <p:nvPr/>
        </p:nvSpPr>
        <p:spPr>
          <a:xfrm>
            <a:off x="793790" y="3578900"/>
            <a:ext cx="7556421" cy="217741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This report details the AttendEase mobile-based attendance management system, leveraging geofencing and facial recognition for educational institutions. It covers the app's identity, design process using Figma, and frontend implementation in Flutter. The app targets students, lecturers, and administrators with tailored functionalities, ensuring a streamlined and efficient attendance tracking experience.</a:t>
            </a:r>
            <a:endParaRPr lang="en-US" sz="1750" dirty="0"/>
          </a:p>
        </p:txBody>
      </p:sp>
      <p:sp>
        <p:nvSpPr>
          <p:cNvPr id="5" name="Shape 2"/>
          <p:cNvSpPr/>
          <p:nvPr/>
        </p:nvSpPr>
        <p:spPr>
          <a:xfrm>
            <a:off x="793790" y="6028373"/>
            <a:ext cx="362903" cy="362903"/>
          </a:xfrm>
          <a:prstGeom prst="roundRect">
            <a:avLst>
              <a:gd name="adj" fmla="val 25194296"/>
            </a:avLst>
          </a:prstGeom>
          <a:noFill/>
          <a:ln w="7620">
            <a:solidFill>
              <a:srgbClr val="4D4D51"/>
            </a:solidFill>
            <a:prstDash val="solid"/>
          </a:ln>
        </p:spPr>
      </p:sp>
      <p:pic>
        <p:nvPicPr>
          <p:cNvPr id="6" name="Image 1" descr="preencoded.png">    </p:cNvPr>
          <p:cNvPicPr>
            <a:picLocks noChangeAspect="1"/>
          </p:cNvPicPr>
          <p:nvPr/>
        </p:nvPicPr>
        <p:blipFill>
          <a:blip r:embed="rId2"/>
          <a:stretch>
            <a:fillRect/>
          </a:stretch>
        </p:blipFill>
        <p:spPr>
          <a:xfrm>
            <a:off x="801410" y="6035992"/>
            <a:ext cx="347663" cy="347663"/>
          </a:xfrm>
          <a:prstGeom prst="rect">
            <a:avLst/>
          </a:prstGeom>
        </p:spPr>
      </p:pic>
      <p:sp>
        <p:nvSpPr>
          <p:cNvPr id="7" name="Text 3"/>
          <p:cNvSpPr/>
          <p:nvPr/>
        </p:nvSpPr>
        <p:spPr>
          <a:xfrm>
            <a:off x="1270040" y="6011466"/>
            <a:ext cx="2496145" cy="396835"/>
          </a:xfrm>
          <a:prstGeom prst="rect">
            <a:avLst/>
          </a:prstGeom>
          <a:noFill/>
          <a:ln/>
        </p:spPr>
        <p:txBody>
          <a:bodyPr wrap="none" lIns="0" tIns="0" rIns="0" bIns="0" rtlCol="0" anchor="t"/>
          <a:lstStyle/>
          <a:p>
            <a:pPr algn="l" indent="0" marL="0">
              <a:lnSpc>
                <a:spcPts val="3100"/>
              </a:lnSpc>
              <a:buNone/>
            </a:pPr>
            <a:r>
              <a:rPr lang="en-US" sz="2200" b="1" dirty="0">
                <a:solidFill>
                  <a:srgbClr val="E5E0DF"/>
                </a:solidFill>
                <a:latin typeface="Inter Bold" pitchFamily="34" charset="0"/>
                <a:ea typeface="Inter Bold" pitchFamily="34" charset="-122"/>
                <a:cs typeface="Inter Bold" pitchFamily="34" charset="-120"/>
              </a:rPr>
              <a:t>by Nsondo Mirelle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807720"/>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FFFFFF"/>
                </a:solidFill>
                <a:latin typeface="Inter Bold" pitchFamily="34" charset="0"/>
                <a:ea typeface="Inter Bold" pitchFamily="34" charset="-122"/>
                <a:cs typeface="Inter Bold" pitchFamily="34" charset="-120"/>
              </a:rPr>
              <a:t>App Identity: Branding and Purpose</a:t>
            </a:r>
            <a:endParaRPr lang="en-US" sz="4450" dirty="0"/>
          </a:p>
        </p:txBody>
      </p:sp>
      <p:sp>
        <p:nvSpPr>
          <p:cNvPr id="4" name="Shape 1"/>
          <p:cNvSpPr/>
          <p:nvPr/>
        </p:nvSpPr>
        <p:spPr>
          <a:xfrm>
            <a:off x="793790" y="2565440"/>
            <a:ext cx="510302" cy="510302"/>
          </a:xfrm>
          <a:prstGeom prst="roundRect">
            <a:avLst>
              <a:gd name="adj" fmla="val 18669"/>
            </a:avLst>
          </a:prstGeom>
          <a:solidFill>
            <a:srgbClr val="110080"/>
          </a:solidFill>
          <a:ln w="7620">
            <a:solidFill>
              <a:srgbClr val="2A1999"/>
            </a:solidFill>
            <a:prstDash val="solid"/>
          </a:ln>
        </p:spPr>
      </p:sp>
      <p:pic>
        <p:nvPicPr>
          <p:cNvPr id="5" name="Image 1" descr="preencoded.png">    </p:cNvPr>
          <p:cNvPicPr>
            <a:picLocks noChangeAspect="1"/>
          </p:cNvPicPr>
          <p:nvPr/>
        </p:nvPicPr>
        <p:blipFill>
          <a:blip r:embed="rId2"/>
          <a:stretch>
            <a:fillRect/>
          </a:stretch>
        </p:blipFill>
        <p:spPr>
          <a:xfrm>
            <a:off x="878860" y="2607945"/>
            <a:ext cx="340162" cy="425291"/>
          </a:xfrm>
          <a:prstGeom prst="rect">
            <a:avLst/>
          </a:prstGeom>
        </p:spPr>
      </p:pic>
      <p:sp>
        <p:nvSpPr>
          <p:cNvPr id="6" name="Text 2"/>
          <p:cNvSpPr/>
          <p:nvPr/>
        </p:nvSpPr>
        <p:spPr>
          <a:xfrm>
            <a:off x="1530906" y="264330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Modern &amp; Efficient</a:t>
            </a:r>
            <a:endParaRPr lang="en-US" sz="2200" dirty="0"/>
          </a:p>
        </p:txBody>
      </p:sp>
      <p:sp>
        <p:nvSpPr>
          <p:cNvPr id="7" name="Text 3"/>
          <p:cNvSpPr/>
          <p:nvPr/>
        </p:nvSpPr>
        <p:spPr>
          <a:xfrm>
            <a:off x="1530906" y="3133725"/>
            <a:ext cx="2899410" cy="1814513"/>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AttendEase simplifies attendance tracking with innovative technology, emphasizing accuracy and convenience.</a:t>
            </a:r>
            <a:endParaRPr lang="en-US" sz="1750" dirty="0"/>
          </a:p>
        </p:txBody>
      </p:sp>
      <p:sp>
        <p:nvSpPr>
          <p:cNvPr id="8" name="Shape 4"/>
          <p:cNvSpPr/>
          <p:nvPr/>
        </p:nvSpPr>
        <p:spPr>
          <a:xfrm>
            <a:off x="4713803" y="2565440"/>
            <a:ext cx="510302" cy="510302"/>
          </a:xfrm>
          <a:prstGeom prst="roundRect">
            <a:avLst>
              <a:gd name="adj" fmla="val 18669"/>
            </a:avLst>
          </a:prstGeom>
          <a:solidFill>
            <a:srgbClr val="110080"/>
          </a:solidFill>
          <a:ln w="7620">
            <a:solidFill>
              <a:srgbClr val="2A1999"/>
            </a:solidFill>
            <a:prstDash val="solid"/>
          </a:ln>
        </p:spPr>
      </p:sp>
      <p:pic>
        <p:nvPicPr>
          <p:cNvPr id="9" name="Image 2" descr="preencoded.png">    </p:cNvPr>
          <p:cNvPicPr>
            <a:picLocks noChangeAspect="1"/>
          </p:cNvPicPr>
          <p:nvPr/>
        </p:nvPicPr>
        <p:blipFill>
          <a:blip r:embed="rId3"/>
          <a:stretch>
            <a:fillRect/>
          </a:stretch>
        </p:blipFill>
        <p:spPr>
          <a:xfrm>
            <a:off x="4798874" y="2607945"/>
            <a:ext cx="340162" cy="425291"/>
          </a:xfrm>
          <a:prstGeom prst="rect">
            <a:avLst/>
          </a:prstGeom>
        </p:spPr>
      </p:pic>
      <p:sp>
        <p:nvSpPr>
          <p:cNvPr id="10" name="Text 5"/>
          <p:cNvSpPr/>
          <p:nvPr/>
        </p:nvSpPr>
        <p:spPr>
          <a:xfrm>
            <a:off x="5450919" y="264330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Color Scheme</a:t>
            </a:r>
            <a:endParaRPr lang="en-US" sz="2200" dirty="0"/>
          </a:p>
        </p:txBody>
      </p:sp>
      <p:sp>
        <p:nvSpPr>
          <p:cNvPr id="11" name="Text 6"/>
          <p:cNvSpPr/>
          <p:nvPr/>
        </p:nvSpPr>
        <p:spPr>
          <a:xfrm>
            <a:off x="5450919" y="3133725"/>
            <a:ext cx="2899410" cy="217741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Primary blue and purple gradients convey trust and professionalism. Secondary green and red are used for status indicators.</a:t>
            </a:r>
            <a:endParaRPr lang="en-US" sz="1750" dirty="0"/>
          </a:p>
        </p:txBody>
      </p:sp>
      <p:sp>
        <p:nvSpPr>
          <p:cNvPr id="12" name="Shape 7"/>
          <p:cNvSpPr/>
          <p:nvPr/>
        </p:nvSpPr>
        <p:spPr>
          <a:xfrm>
            <a:off x="793790" y="5764768"/>
            <a:ext cx="510302" cy="510302"/>
          </a:xfrm>
          <a:prstGeom prst="roundRect">
            <a:avLst>
              <a:gd name="adj" fmla="val 18669"/>
            </a:avLst>
          </a:prstGeom>
          <a:solidFill>
            <a:srgbClr val="110080"/>
          </a:solidFill>
          <a:ln w="7620">
            <a:solidFill>
              <a:srgbClr val="2A1999"/>
            </a:solidFill>
            <a:prstDash val="solid"/>
          </a:ln>
        </p:spPr>
      </p:sp>
      <p:pic>
        <p:nvPicPr>
          <p:cNvPr id="13" name="Image 3" descr="preencoded.png">    </p:cNvPr>
          <p:cNvPicPr>
            <a:picLocks noChangeAspect="1"/>
          </p:cNvPicPr>
          <p:nvPr/>
        </p:nvPicPr>
        <p:blipFill>
          <a:blip r:embed="rId4"/>
          <a:stretch>
            <a:fillRect/>
          </a:stretch>
        </p:blipFill>
        <p:spPr>
          <a:xfrm>
            <a:off x="878860" y="5807273"/>
            <a:ext cx="340162" cy="425291"/>
          </a:xfrm>
          <a:prstGeom prst="rect">
            <a:avLst/>
          </a:prstGeom>
        </p:spPr>
      </p:pic>
      <p:sp>
        <p:nvSpPr>
          <p:cNvPr id="14" name="Text 8"/>
          <p:cNvSpPr/>
          <p:nvPr/>
        </p:nvSpPr>
        <p:spPr>
          <a:xfrm>
            <a:off x="1530906" y="584263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Core Features</a:t>
            </a:r>
            <a:endParaRPr lang="en-US" sz="2200" dirty="0"/>
          </a:p>
        </p:txBody>
      </p:sp>
      <p:sp>
        <p:nvSpPr>
          <p:cNvPr id="15" name="Text 9"/>
          <p:cNvSpPr/>
          <p:nvPr/>
        </p:nvSpPr>
        <p:spPr>
          <a:xfrm>
            <a:off x="1530906" y="6333053"/>
            <a:ext cx="6819305" cy="1088708"/>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The tagline "Smart attendance management with facial recognition and geofencing technology" highlights cutting-edge features.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98840"/>
            <a:ext cx="12852559" cy="708779"/>
          </a:xfrm>
          <a:prstGeom prst="rect">
            <a:avLst/>
          </a:prstGeom>
          <a:noFill/>
          <a:ln/>
        </p:spPr>
        <p:txBody>
          <a:bodyPr wrap="none" lIns="0" tIns="0" rIns="0" bIns="0" rtlCol="0" anchor="t"/>
          <a:lstStyle/>
          <a:p>
            <a:pPr algn="l" indent="0" marL="0">
              <a:lnSpc>
                <a:spcPts val="5550"/>
              </a:lnSpc>
              <a:buNone/>
            </a:pPr>
            <a:r>
              <a:rPr lang="en-US" sz="4450" b="1" dirty="0">
                <a:solidFill>
                  <a:srgbClr val="FFFFFF"/>
                </a:solidFill>
                <a:latin typeface="Inter Bold" pitchFamily="34" charset="0"/>
                <a:ea typeface="Inter Bold" pitchFamily="34" charset="-122"/>
                <a:cs typeface="Inter Bold" pitchFamily="34" charset="-120"/>
              </a:rPr>
              <a:t>Logo Design: Symbolizing Core Functionalities</a:t>
            </a:r>
            <a:endParaRPr lang="en-US" sz="4450" dirty="0"/>
          </a:p>
        </p:txBody>
      </p:sp>
      <p:sp>
        <p:nvSpPr>
          <p:cNvPr id="3" name="Text 1"/>
          <p:cNvSpPr/>
          <p:nvPr/>
        </p:nvSpPr>
        <p:spPr>
          <a:xfrm>
            <a:off x="793790" y="2451854"/>
            <a:ext cx="6244709" cy="2903220"/>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The AttendEase logo visually encapsulates the app's core functionalities. It features a stylized human head with a geofencing marker above, symbolizing location-based attendance. A smartphone icon alongside represents facial recognition, while a gradient circular background in blue and purple ties into the app’s color scheme. The bold "AttendEase" text and "MODERN APP" reinforce its contemporary approach.</a:t>
            </a:r>
            <a:endParaRPr lang="en-US" sz="1750" dirty="0"/>
          </a:p>
        </p:txBody>
      </p:sp>
      <p:pic>
        <p:nvPicPr>
          <p:cNvPr id="4" name="Image 0" descr="preencoded.png">    </p:cNvPr>
          <p:cNvPicPr>
            <a:picLocks noChangeAspect="1"/>
          </p:cNvPicPr>
          <p:nvPr/>
        </p:nvPicPr>
        <p:blipFill>
          <a:blip r:embed="rId1"/>
          <a:stretch>
            <a:fillRect/>
          </a:stretch>
        </p:blipFill>
        <p:spPr>
          <a:xfrm>
            <a:off x="7599521" y="2502932"/>
            <a:ext cx="6244709" cy="427267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2577"/>
          </a:xfrm>
          <a:prstGeom prst="rect">
            <a:avLst/>
          </a:prstGeom>
        </p:spPr>
      </p:pic>
      <p:sp>
        <p:nvSpPr>
          <p:cNvPr id="3" name="Text 0"/>
          <p:cNvSpPr/>
          <p:nvPr/>
        </p:nvSpPr>
        <p:spPr>
          <a:xfrm>
            <a:off x="6266498" y="612934"/>
            <a:ext cx="7583805" cy="1393031"/>
          </a:xfrm>
          <a:prstGeom prst="rect">
            <a:avLst/>
          </a:prstGeom>
          <a:noFill/>
          <a:ln/>
        </p:spPr>
        <p:txBody>
          <a:bodyPr wrap="square" lIns="0" tIns="0" rIns="0" bIns="0" rtlCol="0" anchor="t"/>
          <a:lstStyle/>
          <a:p>
            <a:pPr algn="l" indent="0" marL="0">
              <a:lnSpc>
                <a:spcPts val="5450"/>
              </a:lnSpc>
              <a:buNone/>
            </a:pPr>
            <a:r>
              <a:rPr lang="en-US" sz="4350" b="1" dirty="0">
                <a:solidFill>
                  <a:srgbClr val="FFFFFF"/>
                </a:solidFill>
                <a:latin typeface="Inter Bold" pitchFamily="34" charset="0"/>
                <a:ea typeface="Inter Bold" pitchFamily="34" charset="-122"/>
                <a:cs typeface="Inter Bold" pitchFamily="34" charset="-120"/>
              </a:rPr>
              <a:t>Design Process: UI/UX with Figma</a:t>
            </a:r>
            <a:endParaRPr lang="en-US" sz="4350" dirty="0"/>
          </a:p>
        </p:txBody>
      </p:sp>
      <p:pic>
        <p:nvPicPr>
          <p:cNvPr id="4" name="Image 1" descr="preencoded.png">    </p:cNvPr>
          <p:cNvPicPr>
            <a:picLocks noChangeAspect="1"/>
          </p:cNvPicPr>
          <p:nvPr/>
        </p:nvPicPr>
        <p:blipFill>
          <a:blip r:embed="rId2"/>
          <a:stretch>
            <a:fillRect/>
          </a:stretch>
        </p:blipFill>
        <p:spPr>
          <a:xfrm>
            <a:off x="6266498" y="2340293"/>
            <a:ext cx="1114425" cy="1997512"/>
          </a:xfrm>
          <a:prstGeom prst="rect">
            <a:avLst/>
          </a:prstGeom>
        </p:spPr>
      </p:pic>
      <p:sp>
        <p:nvSpPr>
          <p:cNvPr id="5" name="Text 1"/>
          <p:cNvSpPr/>
          <p:nvPr/>
        </p:nvSpPr>
        <p:spPr>
          <a:xfrm>
            <a:off x="7715250" y="2563178"/>
            <a:ext cx="2786301" cy="348258"/>
          </a:xfrm>
          <a:prstGeom prst="rect">
            <a:avLst/>
          </a:prstGeom>
          <a:noFill/>
          <a:ln/>
        </p:spPr>
        <p:txBody>
          <a:bodyPr wrap="none" lIns="0" tIns="0" rIns="0" bIns="0" rtlCol="0" anchor="t"/>
          <a:lstStyle/>
          <a:p>
            <a:pPr algn="l" indent="0" marL="0">
              <a:lnSpc>
                <a:spcPts val="2700"/>
              </a:lnSpc>
              <a:buNone/>
            </a:pPr>
            <a:r>
              <a:rPr lang="en-US" sz="2150" b="1" dirty="0">
                <a:solidFill>
                  <a:srgbClr val="E5E0DF"/>
                </a:solidFill>
                <a:latin typeface="Inter Bold" pitchFamily="34" charset="0"/>
                <a:ea typeface="Inter Bold" pitchFamily="34" charset="-122"/>
                <a:cs typeface="Inter Bold" pitchFamily="34" charset="-120"/>
              </a:rPr>
              <a:t>Collaborative Tool</a:t>
            </a:r>
            <a:endParaRPr lang="en-US" sz="2150" dirty="0"/>
          </a:p>
        </p:txBody>
      </p:sp>
      <p:sp>
        <p:nvSpPr>
          <p:cNvPr id="6" name="Text 2"/>
          <p:cNvSpPr/>
          <p:nvPr/>
        </p:nvSpPr>
        <p:spPr>
          <a:xfrm>
            <a:off x="7715250" y="3045143"/>
            <a:ext cx="6135053" cy="1069777"/>
          </a:xfrm>
          <a:prstGeom prst="rect">
            <a:avLst/>
          </a:prstGeom>
          <a:noFill/>
          <a:ln/>
        </p:spPr>
        <p:txBody>
          <a:bodyPr wrap="square" lIns="0" tIns="0" rIns="0" bIns="0" rtlCol="0" anchor="t"/>
          <a:lstStyle/>
          <a:p>
            <a:pPr algn="l" indent="0" marL="0">
              <a:lnSpc>
                <a:spcPts val="2800"/>
              </a:lnSpc>
              <a:buNone/>
            </a:pPr>
            <a:r>
              <a:rPr lang="en-US" sz="1750" dirty="0">
                <a:solidFill>
                  <a:srgbClr val="E5E0DF"/>
                </a:solidFill>
                <a:latin typeface="Inter" pitchFamily="34" charset="0"/>
                <a:ea typeface="Inter" pitchFamily="34" charset="-122"/>
                <a:cs typeface="Inter" pitchFamily="34" charset="-120"/>
              </a:rPr>
              <a:t>Figma was chosen for its iterative prototyping and team feedback capabilities, ensuring a seamless design-to-development transition.</a:t>
            </a:r>
            <a:endParaRPr lang="en-US" sz="1750" dirty="0"/>
          </a:p>
        </p:txBody>
      </p:sp>
      <p:pic>
        <p:nvPicPr>
          <p:cNvPr id="7" name="Image 2" descr="preencoded.png">    </p:cNvPr>
          <p:cNvPicPr>
            <a:picLocks noChangeAspect="1"/>
          </p:cNvPicPr>
          <p:nvPr/>
        </p:nvPicPr>
        <p:blipFill>
          <a:blip r:embed="rId3"/>
          <a:stretch>
            <a:fillRect/>
          </a:stretch>
        </p:blipFill>
        <p:spPr>
          <a:xfrm>
            <a:off x="6266498" y="4337804"/>
            <a:ext cx="1114425" cy="1640919"/>
          </a:xfrm>
          <a:prstGeom prst="rect">
            <a:avLst/>
          </a:prstGeom>
        </p:spPr>
      </p:pic>
      <p:sp>
        <p:nvSpPr>
          <p:cNvPr id="8" name="Text 3"/>
          <p:cNvSpPr/>
          <p:nvPr/>
        </p:nvSpPr>
        <p:spPr>
          <a:xfrm>
            <a:off x="7715250" y="4560689"/>
            <a:ext cx="3096697" cy="348258"/>
          </a:xfrm>
          <a:prstGeom prst="rect">
            <a:avLst/>
          </a:prstGeom>
          <a:noFill/>
          <a:ln/>
        </p:spPr>
        <p:txBody>
          <a:bodyPr wrap="none" lIns="0" tIns="0" rIns="0" bIns="0" rtlCol="0" anchor="t"/>
          <a:lstStyle/>
          <a:p>
            <a:pPr algn="l" indent="0" marL="0">
              <a:lnSpc>
                <a:spcPts val="2700"/>
              </a:lnSpc>
              <a:buNone/>
            </a:pPr>
            <a:r>
              <a:rPr lang="en-US" sz="2150" b="1" dirty="0">
                <a:solidFill>
                  <a:srgbClr val="E5E0DF"/>
                </a:solidFill>
                <a:latin typeface="Inter Bold" pitchFamily="34" charset="0"/>
                <a:ea typeface="Inter Bold" pitchFamily="34" charset="-122"/>
                <a:cs typeface="Inter Bold" pitchFamily="34" charset="-120"/>
              </a:rPr>
              <a:t>High-Fidelity Mockups</a:t>
            </a:r>
            <a:endParaRPr lang="en-US" sz="2150" dirty="0"/>
          </a:p>
        </p:txBody>
      </p:sp>
      <p:sp>
        <p:nvSpPr>
          <p:cNvPr id="9" name="Text 4"/>
          <p:cNvSpPr/>
          <p:nvPr/>
        </p:nvSpPr>
        <p:spPr>
          <a:xfrm>
            <a:off x="7715250" y="5042654"/>
            <a:ext cx="6135053" cy="713184"/>
          </a:xfrm>
          <a:prstGeom prst="rect">
            <a:avLst/>
          </a:prstGeom>
          <a:noFill/>
          <a:ln/>
        </p:spPr>
        <p:txBody>
          <a:bodyPr wrap="square" lIns="0" tIns="0" rIns="0" bIns="0" rtlCol="0" anchor="t"/>
          <a:lstStyle/>
          <a:p>
            <a:pPr algn="l" indent="0" marL="0">
              <a:lnSpc>
                <a:spcPts val="2800"/>
              </a:lnSpc>
              <a:buNone/>
            </a:pPr>
            <a:r>
              <a:rPr lang="en-US" sz="1750" dirty="0">
                <a:solidFill>
                  <a:srgbClr val="E5E0DF"/>
                </a:solidFill>
                <a:latin typeface="Inter" pitchFamily="34" charset="0"/>
                <a:ea typeface="Inter" pitchFamily="34" charset="-122"/>
                <a:cs typeface="Inter" pitchFamily="34" charset="-120"/>
              </a:rPr>
              <a:t>Used to create detailed mockups, design systems, and interactive prototypes for all app screens.</a:t>
            </a:r>
            <a:endParaRPr lang="en-US" sz="1750" dirty="0"/>
          </a:p>
        </p:txBody>
      </p:sp>
      <p:pic>
        <p:nvPicPr>
          <p:cNvPr id="10" name="Image 3" descr="preencoded.png">    </p:cNvPr>
          <p:cNvPicPr>
            <a:picLocks noChangeAspect="1"/>
          </p:cNvPicPr>
          <p:nvPr/>
        </p:nvPicPr>
        <p:blipFill>
          <a:blip r:embed="rId4"/>
          <a:stretch>
            <a:fillRect/>
          </a:stretch>
        </p:blipFill>
        <p:spPr>
          <a:xfrm>
            <a:off x="6266498" y="5978723"/>
            <a:ext cx="1114425" cy="1640919"/>
          </a:xfrm>
          <a:prstGeom prst="rect">
            <a:avLst/>
          </a:prstGeom>
        </p:spPr>
      </p:pic>
      <p:sp>
        <p:nvSpPr>
          <p:cNvPr id="11" name="Text 5"/>
          <p:cNvSpPr/>
          <p:nvPr/>
        </p:nvSpPr>
        <p:spPr>
          <a:xfrm>
            <a:off x="7715250" y="6201608"/>
            <a:ext cx="3347323" cy="348258"/>
          </a:xfrm>
          <a:prstGeom prst="rect">
            <a:avLst/>
          </a:prstGeom>
          <a:noFill/>
          <a:ln/>
        </p:spPr>
        <p:txBody>
          <a:bodyPr wrap="none" lIns="0" tIns="0" rIns="0" bIns="0" rtlCol="0" anchor="t"/>
          <a:lstStyle/>
          <a:p>
            <a:pPr algn="l" indent="0" marL="0">
              <a:lnSpc>
                <a:spcPts val="2700"/>
              </a:lnSpc>
              <a:buNone/>
            </a:pPr>
            <a:r>
              <a:rPr lang="en-US" sz="2150" b="1" dirty="0">
                <a:solidFill>
                  <a:srgbClr val="E5E0DF"/>
                </a:solidFill>
                <a:latin typeface="Inter Bold" pitchFamily="34" charset="0"/>
                <a:ea typeface="Inter Bold" pitchFamily="34" charset="-122"/>
                <a:cs typeface="Inter Bold" pitchFamily="34" charset="-120"/>
              </a:rPr>
              <a:t>Visually Appealing Entry</a:t>
            </a:r>
            <a:endParaRPr lang="en-US" sz="2150" dirty="0"/>
          </a:p>
        </p:txBody>
      </p:sp>
      <p:sp>
        <p:nvSpPr>
          <p:cNvPr id="12" name="Text 6"/>
          <p:cNvSpPr/>
          <p:nvPr/>
        </p:nvSpPr>
        <p:spPr>
          <a:xfrm>
            <a:off x="7715250" y="6683573"/>
            <a:ext cx="6135053" cy="713184"/>
          </a:xfrm>
          <a:prstGeom prst="rect">
            <a:avLst/>
          </a:prstGeom>
          <a:noFill/>
          <a:ln/>
        </p:spPr>
        <p:txBody>
          <a:bodyPr wrap="square" lIns="0" tIns="0" rIns="0" bIns="0" rtlCol="0" anchor="t"/>
          <a:lstStyle/>
          <a:p>
            <a:pPr algn="l" indent="0" marL="0">
              <a:lnSpc>
                <a:spcPts val="2800"/>
              </a:lnSpc>
              <a:buNone/>
            </a:pPr>
            <a:r>
              <a:rPr lang="en-US" sz="1750" dirty="0">
                <a:solidFill>
                  <a:srgbClr val="E5E0DF"/>
                </a:solidFill>
                <a:latin typeface="Inter" pitchFamily="34" charset="0"/>
                <a:ea typeface="Inter" pitchFamily="34" charset="-122"/>
                <a:cs typeface="Inter" pitchFamily="34" charset="-120"/>
              </a:rPr>
              <a:t>The welcome screen features a gradient background, prominent logo, tagline, and clear sign-up/login buttons.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711637"/>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FFFFFF"/>
                </a:solidFill>
                <a:latin typeface="Inter Bold" pitchFamily="34" charset="0"/>
                <a:ea typeface="Inter Bold" pitchFamily="34" charset="-122"/>
                <a:cs typeface="Inter Bold" pitchFamily="34" charset="-120"/>
              </a:rPr>
              <a:t>Tailored Sign-Up and Verification Screens</a:t>
            </a:r>
            <a:endParaRPr lang="en-US" sz="4450" dirty="0"/>
          </a:p>
        </p:txBody>
      </p:sp>
      <p:sp>
        <p:nvSpPr>
          <p:cNvPr id="4" name="Shape 1"/>
          <p:cNvSpPr/>
          <p:nvPr/>
        </p:nvSpPr>
        <p:spPr>
          <a:xfrm>
            <a:off x="6280190" y="2469356"/>
            <a:ext cx="3664863" cy="3136702"/>
          </a:xfrm>
          <a:prstGeom prst="roundRect">
            <a:avLst>
              <a:gd name="adj" fmla="val 3037"/>
            </a:avLst>
          </a:prstGeom>
          <a:solidFill>
            <a:srgbClr val="110080"/>
          </a:solidFill>
          <a:ln w="7620">
            <a:solidFill>
              <a:srgbClr val="2A1999"/>
            </a:solidFill>
            <a:prstDash val="solid"/>
          </a:ln>
        </p:spPr>
      </p:sp>
      <p:sp>
        <p:nvSpPr>
          <p:cNvPr id="5" name="Text 2"/>
          <p:cNvSpPr/>
          <p:nvPr/>
        </p:nvSpPr>
        <p:spPr>
          <a:xfrm>
            <a:off x="6514624" y="2703790"/>
            <a:ext cx="3073241" cy="354330"/>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Role-Specific Sign-Up</a:t>
            </a:r>
            <a:endParaRPr lang="en-US" sz="2200" dirty="0"/>
          </a:p>
        </p:txBody>
      </p:sp>
      <p:sp>
        <p:nvSpPr>
          <p:cNvPr id="6" name="Text 3"/>
          <p:cNvSpPr/>
          <p:nvPr/>
        </p:nvSpPr>
        <p:spPr>
          <a:xfrm>
            <a:off x="6514624" y="3194209"/>
            <a:ext cx="3195995" cy="217741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Separate screens for students (matriculation, department, face registration), lecturers (ID), and admins (organization) cater to unique needs.</a:t>
            </a:r>
            <a:endParaRPr lang="en-US" sz="1750" dirty="0"/>
          </a:p>
        </p:txBody>
      </p:sp>
      <p:sp>
        <p:nvSpPr>
          <p:cNvPr id="7" name="Shape 4"/>
          <p:cNvSpPr/>
          <p:nvPr/>
        </p:nvSpPr>
        <p:spPr>
          <a:xfrm>
            <a:off x="10171867" y="2469356"/>
            <a:ext cx="3664863" cy="3136702"/>
          </a:xfrm>
          <a:prstGeom prst="roundRect">
            <a:avLst>
              <a:gd name="adj" fmla="val 3037"/>
            </a:avLst>
          </a:prstGeom>
          <a:solidFill>
            <a:srgbClr val="110080"/>
          </a:solidFill>
          <a:ln w="7620">
            <a:solidFill>
              <a:srgbClr val="2A1999"/>
            </a:solidFill>
            <a:prstDash val="solid"/>
          </a:ln>
        </p:spPr>
      </p:sp>
      <p:sp>
        <p:nvSpPr>
          <p:cNvPr id="8" name="Text 5"/>
          <p:cNvSpPr/>
          <p:nvPr/>
        </p:nvSpPr>
        <p:spPr>
          <a:xfrm>
            <a:off x="10406301" y="270379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Verification Screen</a:t>
            </a:r>
            <a:endParaRPr lang="en-US" sz="2200" dirty="0"/>
          </a:p>
        </p:txBody>
      </p:sp>
      <p:sp>
        <p:nvSpPr>
          <p:cNvPr id="9" name="Text 6"/>
          <p:cNvSpPr/>
          <p:nvPr/>
        </p:nvSpPr>
        <p:spPr>
          <a:xfrm>
            <a:off x="10406301" y="3194209"/>
            <a:ext cx="3195995" cy="1814513"/>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Clean layout with a 6-digit OTP input field, styled with role-specific colors, supporting auto-submission and resend options.</a:t>
            </a:r>
            <a:endParaRPr lang="en-US" sz="1750" dirty="0"/>
          </a:p>
        </p:txBody>
      </p:sp>
      <p:sp>
        <p:nvSpPr>
          <p:cNvPr id="10" name="Shape 7"/>
          <p:cNvSpPr/>
          <p:nvPr/>
        </p:nvSpPr>
        <p:spPr>
          <a:xfrm>
            <a:off x="6280190" y="5832872"/>
            <a:ext cx="7556421" cy="1685092"/>
          </a:xfrm>
          <a:prstGeom prst="roundRect">
            <a:avLst>
              <a:gd name="adj" fmla="val 5654"/>
            </a:avLst>
          </a:prstGeom>
          <a:solidFill>
            <a:srgbClr val="110080"/>
          </a:solidFill>
          <a:ln w="7620">
            <a:solidFill>
              <a:srgbClr val="2A1999"/>
            </a:solidFill>
            <a:prstDash val="solid"/>
          </a:ln>
        </p:spPr>
      </p:sp>
      <p:sp>
        <p:nvSpPr>
          <p:cNvPr id="11" name="Text 8"/>
          <p:cNvSpPr/>
          <p:nvPr/>
        </p:nvSpPr>
        <p:spPr>
          <a:xfrm>
            <a:off x="6514624" y="606730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Success Screen</a:t>
            </a:r>
            <a:endParaRPr lang="en-US" sz="2200" dirty="0"/>
          </a:p>
        </p:txBody>
      </p:sp>
      <p:sp>
        <p:nvSpPr>
          <p:cNvPr id="12" name="Text 9"/>
          <p:cNvSpPr/>
          <p:nvPr/>
        </p:nvSpPr>
        <p:spPr>
          <a:xfrm>
            <a:off x="6514624" y="6557724"/>
            <a:ext cx="7087553" cy="72580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Features a Lottie animation for visual feedback upon successful account creation, followed by navigation to the login screen.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592824"/>
          </a:xfrm>
          <a:prstGeom prst="rect">
            <a:avLst/>
          </a:prstGeom>
        </p:spPr>
      </p:pic>
      <p:sp>
        <p:nvSpPr>
          <p:cNvPr id="3" name="Text 0"/>
          <p:cNvSpPr/>
          <p:nvPr/>
        </p:nvSpPr>
        <p:spPr>
          <a:xfrm>
            <a:off x="725924" y="3163253"/>
            <a:ext cx="8343424" cy="648057"/>
          </a:xfrm>
          <a:prstGeom prst="rect">
            <a:avLst/>
          </a:prstGeom>
          <a:noFill/>
          <a:ln/>
        </p:spPr>
        <p:txBody>
          <a:bodyPr wrap="none" lIns="0" tIns="0" rIns="0" bIns="0" rtlCol="0" anchor="t"/>
          <a:lstStyle/>
          <a:p>
            <a:pPr algn="l" indent="0" marL="0">
              <a:lnSpc>
                <a:spcPts val="5100"/>
              </a:lnSpc>
              <a:buNone/>
            </a:pPr>
            <a:r>
              <a:rPr lang="en-US" sz="4050" b="1" dirty="0">
                <a:solidFill>
                  <a:srgbClr val="FFFFFF"/>
                </a:solidFill>
                <a:latin typeface="Inter Bold" pitchFamily="34" charset="0"/>
                <a:ea typeface="Inter Bold" pitchFamily="34" charset="-122"/>
                <a:cs typeface="Inter Bold" pitchFamily="34" charset="-120"/>
              </a:rPr>
              <a:t>User-Centric Dashboard Designs</a:t>
            </a:r>
            <a:endParaRPr lang="en-US" sz="4050" dirty="0"/>
          </a:p>
        </p:txBody>
      </p:sp>
      <p:pic>
        <p:nvPicPr>
          <p:cNvPr id="4" name="Image 1" descr="preencoded.png">    </p:cNvPr>
          <p:cNvPicPr>
            <a:picLocks noChangeAspect="1"/>
          </p:cNvPicPr>
          <p:nvPr/>
        </p:nvPicPr>
        <p:blipFill>
          <a:blip r:embed="rId2"/>
          <a:stretch>
            <a:fillRect/>
          </a:stretch>
        </p:blipFill>
        <p:spPr>
          <a:xfrm>
            <a:off x="725924" y="4158615"/>
            <a:ext cx="518517" cy="518517"/>
          </a:xfrm>
          <a:prstGeom prst="rect">
            <a:avLst/>
          </a:prstGeom>
        </p:spPr>
      </p:pic>
      <p:sp>
        <p:nvSpPr>
          <p:cNvPr id="5" name="Text 1"/>
          <p:cNvSpPr/>
          <p:nvPr/>
        </p:nvSpPr>
        <p:spPr>
          <a:xfrm>
            <a:off x="1451848" y="4245531"/>
            <a:ext cx="2592824" cy="324088"/>
          </a:xfrm>
          <a:prstGeom prst="rect">
            <a:avLst/>
          </a:prstGeom>
          <a:noFill/>
          <a:ln/>
        </p:spPr>
        <p:txBody>
          <a:bodyPr wrap="none" lIns="0" tIns="0" rIns="0" bIns="0" rtlCol="0" anchor="t"/>
          <a:lstStyle/>
          <a:p>
            <a:pPr algn="l" indent="0" marL="0">
              <a:lnSpc>
                <a:spcPts val="2550"/>
              </a:lnSpc>
              <a:buNone/>
            </a:pPr>
            <a:r>
              <a:rPr lang="en-US" sz="2000" b="1" dirty="0">
                <a:solidFill>
                  <a:srgbClr val="E5E0DF"/>
                </a:solidFill>
                <a:latin typeface="Inter Bold" pitchFamily="34" charset="0"/>
                <a:ea typeface="Inter Bold" pitchFamily="34" charset="-122"/>
                <a:cs typeface="Inter Bold" pitchFamily="34" charset="-120"/>
              </a:rPr>
              <a:t>Student Dashboard</a:t>
            </a:r>
            <a:endParaRPr lang="en-US" sz="2000" dirty="0"/>
          </a:p>
        </p:txBody>
      </p:sp>
      <p:sp>
        <p:nvSpPr>
          <p:cNvPr id="6" name="Text 2"/>
          <p:cNvSpPr/>
          <p:nvPr/>
        </p:nvSpPr>
        <p:spPr>
          <a:xfrm>
            <a:off x="1451848" y="4694039"/>
            <a:ext cx="12452628" cy="33182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Welcome card, quick stats (attendance percentage, counts), and today’s classes with check-in functionality.</a:t>
            </a:r>
            <a:endParaRPr lang="en-US" sz="1600" dirty="0"/>
          </a:p>
        </p:txBody>
      </p:sp>
      <p:pic>
        <p:nvPicPr>
          <p:cNvPr id="7" name="Image 2" descr="preencoded.png">    </p:cNvPr>
          <p:cNvPicPr>
            <a:picLocks noChangeAspect="1"/>
          </p:cNvPicPr>
          <p:nvPr/>
        </p:nvPicPr>
        <p:blipFill>
          <a:blip r:embed="rId3"/>
          <a:stretch>
            <a:fillRect/>
          </a:stretch>
        </p:blipFill>
        <p:spPr>
          <a:xfrm>
            <a:off x="725924" y="5476875"/>
            <a:ext cx="518517" cy="518517"/>
          </a:xfrm>
          <a:prstGeom prst="rect">
            <a:avLst/>
          </a:prstGeom>
        </p:spPr>
      </p:pic>
      <p:sp>
        <p:nvSpPr>
          <p:cNvPr id="8" name="Text 3"/>
          <p:cNvSpPr/>
          <p:nvPr/>
        </p:nvSpPr>
        <p:spPr>
          <a:xfrm>
            <a:off x="1451848" y="5563791"/>
            <a:ext cx="2592824" cy="324088"/>
          </a:xfrm>
          <a:prstGeom prst="rect">
            <a:avLst/>
          </a:prstGeom>
          <a:noFill/>
          <a:ln/>
        </p:spPr>
        <p:txBody>
          <a:bodyPr wrap="none" lIns="0" tIns="0" rIns="0" bIns="0" rtlCol="0" anchor="t"/>
          <a:lstStyle/>
          <a:p>
            <a:pPr algn="l" indent="0" marL="0">
              <a:lnSpc>
                <a:spcPts val="2550"/>
              </a:lnSpc>
              <a:buNone/>
            </a:pPr>
            <a:r>
              <a:rPr lang="en-US" sz="2000" b="1" dirty="0">
                <a:solidFill>
                  <a:srgbClr val="E5E0DF"/>
                </a:solidFill>
                <a:latin typeface="Inter Bold" pitchFamily="34" charset="0"/>
                <a:ea typeface="Inter Bold" pitchFamily="34" charset="-122"/>
                <a:cs typeface="Inter Bold" pitchFamily="34" charset="-120"/>
              </a:rPr>
              <a:t>Lecturer Dashboard</a:t>
            </a:r>
            <a:endParaRPr lang="en-US" sz="2000" dirty="0"/>
          </a:p>
        </p:txBody>
      </p:sp>
      <p:sp>
        <p:nvSpPr>
          <p:cNvPr id="9" name="Text 4"/>
          <p:cNvSpPr/>
          <p:nvPr/>
        </p:nvSpPr>
        <p:spPr>
          <a:xfrm>
            <a:off x="1451848" y="6012299"/>
            <a:ext cx="12452628" cy="33182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Quick actions (start session, live attendance) and a list of active courses for efficient management.</a:t>
            </a:r>
            <a:endParaRPr lang="en-US" sz="1600" dirty="0"/>
          </a:p>
        </p:txBody>
      </p:sp>
      <p:pic>
        <p:nvPicPr>
          <p:cNvPr id="10" name="Image 3" descr="preencoded.png">    </p:cNvPr>
          <p:cNvPicPr>
            <a:picLocks noChangeAspect="1"/>
          </p:cNvPicPr>
          <p:nvPr/>
        </p:nvPicPr>
        <p:blipFill>
          <a:blip r:embed="rId4"/>
          <a:stretch>
            <a:fillRect/>
          </a:stretch>
        </p:blipFill>
        <p:spPr>
          <a:xfrm>
            <a:off x="725924" y="6795135"/>
            <a:ext cx="518517" cy="518517"/>
          </a:xfrm>
          <a:prstGeom prst="rect">
            <a:avLst/>
          </a:prstGeom>
        </p:spPr>
      </p:pic>
      <p:sp>
        <p:nvSpPr>
          <p:cNvPr id="11" name="Text 5"/>
          <p:cNvSpPr/>
          <p:nvPr/>
        </p:nvSpPr>
        <p:spPr>
          <a:xfrm>
            <a:off x="1451848" y="6882051"/>
            <a:ext cx="2592824" cy="324088"/>
          </a:xfrm>
          <a:prstGeom prst="rect">
            <a:avLst/>
          </a:prstGeom>
          <a:noFill/>
          <a:ln/>
        </p:spPr>
        <p:txBody>
          <a:bodyPr wrap="none" lIns="0" tIns="0" rIns="0" bIns="0" rtlCol="0" anchor="t"/>
          <a:lstStyle/>
          <a:p>
            <a:pPr algn="l" indent="0" marL="0">
              <a:lnSpc>
                <a:spcPts val="2550"/>
              </a:lnSpc>
              <a:buNone/>
            </a:pPr>
            <a:r>
              <a:rPr lang="en-US" sz="2000" b="1" dirty="0">
                <a:solidFill>
                  <a:srgbClr val="E5E0DF"/>
                </a:solidFill>
                <a:latin typeface="Inter Bold" pitchFamily="34" charset="0"/>
                <a:ea typeface="Inter Bold" pitchFamily="34" charset="-122"/>
                <a:cs typeface="Inter Bold" pitchFamily="34" charset="-120"/>
              </a:rPr>
              <a:t>Admin Dashboard</a:t>
            </a:r>
            <a:endParaRPr lang="en-US" sz="2000" dirty="0"/>
          </a:p>
        </p:txBody>
      </p:sp>
      <p:sp>
        <p:nvSpPr>
          <p:cNvPr id="12" name="Text 6"/>
          <p:cNvSpPr/>
          <p:nvPr/>
        </p:nvSpPr>
        <p:spPr>
          <a:xfrm>
            <a:off x="1451848" y="7330559"/>
            <a:ext cx="12452628" cy="33182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Overview with stat cards (total students, lecturers, active sessions) and quick action cards for management tasks.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8168"/>
          </a:xfrm>
          <a:prstGeom prst="rect">
            <a:avLst/>
          </a:prstGeom>
        </p:spPr>
      </p:pic>
      <p:sp>
        <p:nvSpPr>
          <p:cNvPr id="3" name="Text 0"/>
          <p:cNvSpPr/>
          <p:nvPr/>
        </p:nvSpPr>
        <p:spPr>
          <a:xfrm>
            <a:off x="696635" y="3035498"/>
            <a:ext cx="9593699" cy="622102"/>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Frontend Implementation: Flutter &amp; Dart</a:t>
            </a:r>
            <a:endParaRPr lang="en-US" sz="3900" dirty="0"/>
          </a:p>
        </p:txBody>
      </p:sp>
      <p:sp>
        <p:nvSpPr>
          <p:cNvPr id="4" name="Shape 1"/>
          <p:cNvSpPr/>
          <p:nvPr/>
        </p:nvSpPr>
        <p:spPr>
          <a:xfrm>
            <a:off x="696635" y="5819656"/>
            <a:ext cx="13237131" cy="22860"/>
          </a:xfrm>
          <a:prstGeom prst="roundRect">
            <a:avLst>
              <a:gd name="adj" fmla="val 365732"/>
            </a:avLst>
          </a:prstGeom>
          <a:solidFill>
            <a:srgbClr val="2A1999"/>
          </a:solidFill>
          <a:ln/>
        </p:spPr>
      </p:sp>
      <p:sp>
        <p:nvSpPr>
          <p:cNvPr id="5" name="Shape 2"/>
          <p:cNvSpPr/>
          <p:nvPr/>
        </p:nvSpPr>
        <p:spPr>
          <a:xfrm>
            <a:off x="3932158" y="5222617"/>
            <a:ext cx="22860" cy="597098"/>
          </a:xfrm>
          <a:prstGeom prst="roundRect">
            <a:avLst>
              <a:gd name="adj" fmla="val 365732"/>
            </a:avLst>
          </a:prstGeom>
          <a:solidFill>
            <a:srgbClr val="2A1999"/>
          </a:solidFill>
          <a:ln/>
        </p:spPr>
      </p:sp>
      <p:sp>
        <p:nvSpPr>
          <p:cNvPr id="6" name="Shape 3"/>
          <p:cNvSpPr/>
          <p:nvPr/>
        </p:nvSpPr>
        <p:spPr>
          <a:xfrm>
            <a:off x="3719751" y="5595759"/>
            <a:ext cx="447794" cy="447794"/>
          </a:xfrm>
          <a:prstGeom prst="roundRect">
            <a:avLst>
              <a:gd name="adj" fmla="val 18671"/>
            </a:avLst>
          </a:prstGeom>
          <a:solidFill>
            <a:srgbClr val="110080"/>
          </a:solidFill>
          <a:ln w="7620">
            <a:solidFill>
              <a:srgbClr val="2A1999"/>
            </a:solidFill>
            <a:prstDash val="solid"/>
          </a:ln>
        </p:spPr>
      </p:sp>
      <p:sp>
        <p:nvSpPr>
          <p:cNvPr id="7" name="Text 4"/>
          <p:cNvSpPr/>
          <p:nvPr/>
        </p:nvSpPr>
        <p:spPr>
          <a:xfrm>
            <a:off x="3794343" y="5633025"/>
            <a:ext cx="298490" cy="373142"/>
          </a:xfrm>
          <a:prstGeom prst="rect">
            <a:avLst/>
          </a:prstGeom>
          <a:noFill/>
          <a:ln/>
        </p:spPr>
        <p:txBody>
          <a:bodyPr wrap="none" lIns="0" tIns="0" rIns="0" bIns="0" rtlCol="0" anchor="t"/>
          <a:lstStyle/>
          <a:p>
            <a:pPr algn="ctr" indent="0" marL="0">
              <a:lnSpc>
                <a:spcPts val="2350"/>
              </a:lnSpc>
              <a:buNone/>
            </a:pPr>
            <a:r>
              <a:rPr lang="en-US" sz="2350" b="1" dirty="0">
                <a:solidFill>
                  <a:srgbClr val="E5E0DF"/>
                </a:solidFill>
                <a:latin typeface="Inter Bold" pitchFamily="34" charset="0"/>
                <a:ea typeface="Inter Bold" pitchFamily="34" charset="-122"/>
                <a:cs typeface="Inter Bold" pitchFamily="34" charset="-120"/>
              </a:rPr>
              <a:t>1</a:t>
            </a:r>
            <a:endParaRPr lang="en-US" sz="2350" dirty="0"/>
          </a:p>
        </p:txBody>
      </p:sp>
      <p:sp>
        <p:nvSpPr>
          <p:cNvPr id="8" name="Text 5"/>
          <p:cNvSpPr/>
          <p:nvPr/>
        </p:nvSpPr>
        <p:spPr>
          <a:xfrm>
            <a:off x="2699623" y="3956090"/>
            <a:ext cx="2488168" cy="310991"/>
          </a:xfrm>
          <a:prstGeom prst="rect">
            <a:avLst/>
          </a:prstGeom>
          <a:noFill/>
          <a:ln/>
        </p:spPr>
        <p:txBody>
          <a:bodyPr wrap="none" lIns="0" tIns="0" rIns="0" bIns="0" rtlCol="0" anchor="t"/>
          <a:lstStyle/>
          <a:p>
            <a:pPr algn="ctr"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Flutter Framework</a:t>
            </a:r>
            <a:endParaRPr lang="en-US" sz="1950" dirty="0"/>
          </a:p>
        </p:txBody>
      </p:sp>
      <p:sp>
        <p:nvSpPr>
          <p:cNvPr id="9" name="Text 6"/>
          <p:cNvSpPr/>
          <p:nvPr/>
        </p:nvSpPr>
        <p:spPr>
          <a:xfrm>
            <a:off x="895588" y="4386501"/>
            <a:ext cx="6096238" cy="636984"/>
          </a:xfrm>
          <a:prstGeom prst="rect">
            <a:avLst/>
          </a:prstGeom>
          <a:noFill/>
          <a:ln/>
        </p:spPr>
        <p:txBody>
          <a:bodyPr wrap="square" lIns="0" tIns="0" rIns="0" bIns="0" rtlCol="0" anchor="t"/>
          <a:lstStyle/>
          <a:p>
            <a:pPr algn="ctr" indent="0" marL="0">
              <a:lnSpc>
                <a:spcPts val="2500"/>
              </a:lnSpc>
              <a:buNone/>
            </a:pPr>
            <a:r>
              <a:rPr lang="en-US" sz="1550" dirty="0">
                <a:solidFill>
                  <a:srgbClr val="E5E0DF"/>
                </a:solidFill>
                <a:latin typeface="Inter" pitchFamily="34" charset="0"/>
                <a:ea typeface="Inter" pitchFamily="34" charset="-122"/>
                <a:cs typeface="Inter" pitchFamily="34" charset="-120"/>
              </a:rPr>
              <a:t>Cross-platform development, enabling a single codebase for Android and iOS apps.</a:t>
            </a:r>
            <a:endParaRPr lang="en-US" sz="1550" dirty="0"/>
          </a:p>
        </p:txBody>
      </p:sp>
      <p:sp>
        <p:nvSpPr>
          <p:cNvPr id="10" name="Shape 7"/>
          <p:cNvSpPr/>
          <p:nvPr/>
        </p:nvSpPr>
        <p:spPr>
          <a:xfrm>
            <a:off x="7303532" y="5819596"/>
            <a:ext cx="22860" cy="597098"/>
          </a:xfrm>
          <a:prstGeom prst="roundRect">
            <a:avLst>
              <a:gd name="adj" fmla="val 365732"/>
            </a:avLst>
          </a:prstGeom>
          <a:solidFill>
            <a:srgbClr val="2A1999"/>
          </a:solidFill>
          <a:ln/>
        </p:spPr>
      </p:sp>
      <p:sp>
        <p:nvSpPr>
          <p:cNvPr id="11" name="Shape 8"/>
          <p:cNvSpPr/>
          <p:nvPr/>
        </p:nvSpPr>
        <p:spPr>
          <a:xfrm>
            <a:off x="7091124" y="5595759"/>
            <a:ext cx="447794" cy="447794"/>
          </a:xfrm>
          <a:prstGeom prst="roundRect">
            <a:avLst>
              <a:gd name="adj" fmla="val 18671"/>
            </a:avLst>
          </a:prstGeom>
          <a:solidFill>
            <a:srgbClr val="110080"/>
          </a:solidFill>
          <a:ln w="7620">
            <a:solidFill>
              <a:srgbClr val="2A1999"/>
            </a:solidFill>
            <a:prstDash val="solid"/>
          </a:ln>
        </p:spPr>
      </p:sp>
      <p:sp>
        <p:nvSpPr>
          <p:cNvPr id="12" name="Text 9"/>
          <p:cNvSpPr/>
          <p:nvPr/>
        </p:nvSpPr>
        <p:spPr>
          <a:xfrm>
            <a:off x="7165717" y="5633025"/>
            <a:ext cx="298490" cy="373142"/>
          </a:xfrm>
          <a:prstGeom prst="rect">
            <a:avLst/>
          </a:prstGeom>
          <a:noFill/>
          <a:ln/>
        </p:spPr>
        <p:txBody>
          <a:bodyPr wrap="none" lIns="0" tIns="0" rIns="0" bIns="0" rtlCol="0" anchor="t"/>
          <a:lstStyle/>
          <a:p>
            <a:pPr algn="ctr" indent="0" marL="0">
              <a:lnSpc>
                <a:spcPts val="2350"/>
              </a:lnSpc>
              <a:buNone/>
            </a:pPr>
            <a:r>
              <a:rPr lang="en-US" sz="2350" b="1" dirty="0">
                <a:solidFill>
                  <a:srgbClr val="E5E0DF"/>
                </a:solidFill>
                <a:latin typeface="Inter Bold" pitchFamily="34" charset="0"/>
                <a:ea typeface="Inter Bold" pitchFamily="34" charset="-122"/>
                <a:cs typeface="Inter Bold" pitchFamily="34" charset="-120"/>
              </a:rPr>
              <a:t>2</a:t>
            </a:r>
            <a:endParaRPr lang="en-US" sz="2350" dirty="0"/>
          </a:p>
        </p:txBody>
      </p:sp>
      <p:sp>
        <p:nvSpPr>
          <p:cNvPr id="13" name="Text 10"/>
          <p:cNvSpPr/>
          <p:nvPr/>
        </p:nvSpPr>
        <p:spPr>
          <a:xfrm>
            <a:off x="6070997" y="6615827"/>
            <a:ext cx="2488168" cy="310991"/>
          </a:xfrm>
          <a:prstGeom prst="rect">
            <a:avLst/>
          </a:prstGeom>
          <a:noFill/>
          <a:ln/>
        </p:spPr>
        <p:txBody>
          <a:bodyPr wrap="none" lIns="0" tIns="0" rIns="0" bIns="0" rtlCol="0" anchor="t"/>
          <a:lstStyle/>
          <a:p>
            <a:pPr algn="ctr"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Dart Language</a:t>
            </a:r>
            <a:endParaRPr lang="en-US" sz="1950" dirty="0"/>
          </a:p>
        </p:txBody>
      </p:sp>
      <p:sp>
        <p:nvSpPr>
          <p:cNvPr id="14" name="Text 11"/>
          <p:cNvSpPr/>
          <p:nvPr/>
        </p:nvSpPr>
        <p:spPr>
          <a:xfrm>
            <a:off x="4266962" y="7046238"/>
            <a:ext cx="6096357" cy="636984"/>
          </a:xfrm>
          <a:prstGeom prst="rect">
            <a:avLst/>
          </a:prstGeom>
          <a:noFill/>
          <a:ln/>
        </p:spPr>
        <p:txBody>
          <a:bodyPr wrap="square" lIns="0" tIns="0" rIns="0" bIns="0" rtlCol="0" anchor="t"/>
          <a:lstStyle/>
          <a:p>
            <a:pPr algn="ctr" indent="0" marL="0">
              <a:lnSpc>
                <a:spcPts val="2500"/>
              </a:lnSpc>
              <a:buNone/>
            </a:pPr>
            <a:r>
              <a:rPr lang="en-US" sz="1550" dirty="0">
                <a:solidFill>
                  <a:srgbClr val="E5E0DF"/>
                </a:solidFill>
                <a:latin typeface="Inter" pitchFamily="34" charset="0"/>
                <a:ea typeface="Inter" pitchFamily="34" charset="-122"/>
                <a:cs typeface="Inter" pitchFamily="34" charset="-120"/>
              </a:rPr>
              <a:t>Used for writing the app’s logic and UI components, ensuring efficient performance.</a:t>
            </a:r>
            <a:endParaRPr lang="en-US" sz="1550" dirty="0"/>
          </a:p>
        </p:txBody>
      </p:sp>
      <p:sp>
        <p:nvSpPr>
          <p:cNvPr id="15" name="Shape 12"/>
          <p:cNvSpPr/>
          <p:nvPr/>
        </p:nvSpPr>
        <p:spPr>
          <a:xfrm>
            <a:off x="10675025" y="5222617"/>
            <a:ext cx="22860" cy="597098"/>
          </a:xfrm>
          <a:prstGeom prst="roundRect">
            <a:avLst>
              <a:gd name="adj" fmla="val 365732"/>
            </a:avLst>
          </a:prstGeom>
          <a:solidFill>
            <a:srgbClr val="2A1999"/>
          </a:solidFill>
          <a:ln/>
        </p:spPr>
      </p:sp>
      <p:sp>
        <p:nvSpPr>
          <p:cNvPr id="16" name="Shape 13"/>
          <p:cNvSpPr/>
          <p:nvPr/>
        </p:nvSpPr>
        <p:spPr>
          <a:xfrm>
            <a:off x="10462617" y="5595759"/>
            <a:ext cx="447794" cy="447794"/>
          </a:xfrm>
          <a:prstGeom prst="roundRect">
            <a:avLst>
              <a:gd name="adj" fmla="val 18671"/>
            </a:avLst>
          </a:prstGeom>
          <a:solidFill>
            <a:srgbClr val="110080"/>
          </a:solidFill>
          <a:ln w="7620">
            <a:solidFill>
              <a:srgbClr val="2A1999"/>
            </a:solidFill>
            <a:prstDash val="solid"/>
          </a:ln>
        </p:spPr>
      </p:sp>
      <p:sp>
        <p:nvSpPr>
          <p:cNvPr id="17" name="Text 14"/>
          <p:cNvSpPr/>
          <p:nvPr/>
        </p:nvSpPr>
        <p:spPr>
          <a:xfrm>
            <a:off x="10537210" y="5633025"/>
            <a:ext cx="298490" cy="373142"/>
          </a:xfrm>
          <a:prstGeom prst="rect">
            <a:avLst/>
          </a:prstGeom>
          <a:noFill/>
          <a:ln/>
        </p:spPr>
        <p:txBody>
          <a:bodyPr wrap="none" lIns="0" tIns="0" rIns="0" bIns="0" rtlCol="0" anchor="t"/>
          <a:lstStyle/>
          <a:p>
            <a:pPr algn="ctr" indent="0" marL="0">
              <a:lnSpc>
                <a:spcPts val="2350"/>
              </a:lnSpc>
              <a:buNone/>
            </a:pPr>
            <a:r>
              <a:rPr lang="en-US" sz="2350" b="1" dirty="0">
                <a:solidFill>
                  <a:srgbClr val="E5E0DF"/>
                </a:solidFill>
                <a:latin typeface="Inter Bold" pitchFamily="34" charset="0"/>
                <a:ea typeface="Inter Bold" pitchFamily="34" charset="-122"/>
                <a:cs typeface="Inter Bold" pitchFamily="34" charset="-120"/>
              </a:rPr>
              <a:t>3</a:t>
            </a:r>
            <a:endParaRPr lang="en-US" sz="2350" dirty="0"/>
          </a:p>
        </p:txBody>
      </p:sp>
      <p:sp>
        <p:nvSpPr>
          <p:cNvPr id="18" name="Text 15"/>
          <p:cNvSpPr/>
          <p:nvPr/>
        </p:nvSpPr>
        <p:spPr>
          <a:xfrm>
            <a:off x="9442490" y="3956090"/>
            <a:ext cx="2488168" cy="310991"/>
          </a:xfrm>
          <a:prstGeom prst="rect">
            <a:avLst/>
          </a:prstGeom>
          <a:noFill/>
          <a:ln/>
        </p:spPr>
        <p:txBody>
          <a:bodyPr wrap="none" lIns="0" tIns="0" rIns="0" bIns="0" rtlCol="0" anchor="t"/>
          <a:lstStyle/>
          <a:p>
            <a:pPr algn="ctr"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Android Emulator</a:t>
            </a:r>
            <a:endParaRPr lang="en-US" sz="1950" dirty="0"/>
          </a:p>
        </p:txBody>
      </p:sp>
      <p:sp>
        <p:nvSpPr>
          <p:cNvPr id="19" name="Text 16"/>
          <p:cNvSpPr/>
          <p:nvPr/>
        </p:nvSpPr>
        <p:spPr>
          <a:xfrm>
            <a:off x="7638455" y="4386501"/>
            <a:ext cx="6096357" cy="636984"/>
          </a:xfrm>
          <a:prstGeom prst="rect">
            <a:avLst/>
          </a:prstGeom>
          <a:noFill/>
          <a:ln/>
        </p:spPr>
        <p:txBody>
          <a:bodyPr wrap="square" lIns="0" tIns="0" rIns="0" bIns="0" rtlCol="0" anchor="t"/>
          <a:lstStyle/>
          <a:p>
            <a:pPr algn="ctr" indent="0" marL="0">
              <a:lnSpc>
                <a:spcPts val="2500"/>
              </a:lnSpc>
              <a:buNone/>
            </a:pPr>
            <a:r>
              <a:rPr lang="en-US" sz="1550" dirty="0">
                <a:solidFill>
                  <a:srgbClr val="E5E0DF"/>
                </a:solidFill>
                <a:latin typeface="Inter" pitchFamily="34" charset="0"/>
                <a:ea typeface="Inter" pitchFamily="34" charset="-122"/>
                <a:cs typeface="Inter" pitchFamily="34" charset="-120"/>
              </a:rPr>
              <a:t>Used for testing and deployment, ensuring compatibility and functionality on Android devices.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75203" y="753666"/>
            <a:ext cx="7267694" cy="602813"/>
          </a:xfrm>
          <a:prstGeom prst="rect">
            <a:avLst/>
          </a:prstGeom>
          <a:noFill/>
          <a:ln/>
        </p:spPr>
        <p:txBody>
          <a:bodyPr wrap="none" lIns="0" tIns="0" rIns="0" bIns="0" rtlCol="0" anchor="t"/>
          <a:lstStyle/>
          <a:p>
            <a:pPr algn="l" indent="0" marL="0">
              <a:lnSpc>
                <a:spcPts val="4700"/>
              </a:lnSpc>
              <a:buNone/>
            </a:pPr>
            <a:r>
              <a:rPr lang="en-US" sz="3750" b="1" dirty="0">
                <a:solidFill>
                  <a:srgbClr val="FFFFFF"/>
                </a:solidFill>
                <a:latin typeface="Inter Bold" pitchFamily="34" charset="0"/>
                <a:ea typeface="Inter Bold" pitchFamily="34" charset="-122"/>
                <a:cs typeface="Inter Bold" pitchFamily="34" charset="-120"/>
              </a:rPr>
              <a:t>Structured Folder Organization</a:t>
            </a:r>
            <a:endParaRPr lang="en-US" sz="3750" dirty="0"/>
          </a:p>
        </p:txBody>
      </p:sp>
      <p:pic>
        <p:nvPicPr>
          <p:cNvPr id="3" name="Image 0" descr="preencoded.png">    </p:cNvPr>
          <p:cNvPicPr>
            <a:picLocks noChangeAspect="1"/>
          </p:cNvPicPr>
          <p:nvPr/>
        </p:nvPicPr>
        <p:blipFill>
          <a:blip r:embed="rId1"/>
          <a:stretch>
            <a:fillRect/>
          </a:stretch>
        </p:blipFill>
        <p:spPr>
          <a:xfrm>
            <a:off x="3173492" y="1742242"/>
            <a:ext cx="1643301" cy="1111568"/>
          </a:xfrm>
          <a:prstGeom prst="rect">
            <a:avLst/>
          </a:prstGeom>
        </p:spPr>
      </p:pic>
      <p:sp>
        <p:nvSpPr>
          <p:cNvPr id="4" name="Text 1"/>
          <p:cNvSpPr/>
          <p:nvPr/>
        </p:nvSpPr>
        <p:spPr>
          <a:xfrm>
            <a:off x="3859411" y="2266236"/>
            <a:ext cx="271224" cy="339090"/>
          </a:xfrm>
          <a:prstGeom prst="rect">
            <a:avLst/>
          </a:prstGeom>
          <a:noFill/>
          <a:ln/>
        </p:spPr>
        <p:txBody>
          <a:bodyPr wrap="none" lIns="0" tIns="0" rIns="0" bIns="0" rtlCol="0" anchor="t"/>
          <a:lstStyle/>
          <a:p>
            <a:pPr algn="ctr" indent="0" marL="0">
              <a:lnSpc>
                <a:spcPts val="3400"/>
              </a:lnSpc>
              <a:buNone/>
            </a:pPr>
            <a:r>
              <a:rPr lang="en-US" sz="2100" b="1" dirty="0">
                <a:solidFill>
                  <a:srgbClr val="E5E0DF"/>
                </a:solidFill>
                <a:latin typeface="Inter Bold" pitchFamily="34" charset="0"/>
                <a:ea typeface="Inter Bold" pitchFamily="34" charset="-122"/>
                <a:cs typeface="Inter Bold" pitchFamily="34" charset="-120"/>
              </a:rPr>
              <a:t>1</a:t>
            </a:r>
            <a:endParaRPr lang="en-US" sz="2100" dirty="0"/>
          </a:p>
        </p:txBody>
      </p:sp>
      <p:sp>
        <p:nvSpPr>
          <p:cNvPr id="5" name="Text 2"/>
          <p:cNvSpPr/>
          <p:nvPr/>
        </p:nvSpPr>
        <p:spPr>
          <a:xfrm>
            <a:off x="5009674" y="1935123"/>
            <a:ext cx="2411611" cy="301466"/>
          </a:xfrm>
          <a:prstGeom prst="rect">
            <a:avLst/>
          </a:prstGeom>
          <a:noFill/>
          <a:ln/>
        </p:spPr>
        <p:txBody>
          <a:bodyPr wrap="none" lIns="0" tIns="0" rIns="0" bIns="0" rtlCol="0" anchor="t"/>
          <a:lstStyle/>
          <a:p>
            <a:pPr algn="l" indent="0" marL="0">
              <a:lnSpc>
                <a:spcPts val="2350"/>
              </a:lnSpc>
              <a:buNone/>
            </a:pPr>
            <a:r>
              <a:rPr lang="en-US" sz="1850" b="1" dirty="0">
                <a:solidFill>
                  <a:srgbClr val="E5E0DF"/>
                </a:solidFill>
                <a:latin typeface="Inter Bold" pitchFamily="34" charset="0"/>
                <a:ea typeface="Inter Bold" pitchFamily="34" charset="-122"/>
                <a:cs typeface="Inter Bold" pitchFamily="34" charset="-120"/>
              </a:rPr>
              <a:t>lib/</a:t>
            </a:r>
            <a:endParaRPr lang="en-US" sz="1850" dirty="0"/>
          </a:p>
        </p:txBody>
      </p:sp>
      <p:sp>
        <p:nvSpPr>
          <p:cNvPr id="6" name="Text 3"/>
          <p:cNvSpPr/>
          <p:nvPr/>
        </p:nvSpPr>
        <p:spPr>
          <a:xfrm>
            <a:off x="5009674" y="2352318"/>
            <a:ext cx="6246376" cy="308610"/>
          </a:xfrm>
          <a:prstGeom prst="rect">
            <a:avLst/>
          </a:prstGeom>
          <a:noFill/>
          <a:ln/>
        </p:spPr>
        <p:txBody>
          <a:bodyPr wrap="none" lIns="0" tIns="0" rIns="0" bIns="0" rtlCol="0" anchor="t"/>
          <a:lstStyle/>
          <a:p>
            <a:pPr algn="l" indent="0" marL="0">
              <a:lnSpc>
                <a:spcPts val="2400"/>
              </a:lnSpc>
              <a:buNone/>
            </a:pPr>
            <a:r>
              <a:rPr lang="en-US" sz="1500" dirty="0">
                <a:solidFill>
                  <a:srgbClr val="E5E0DF"/>
                </a:solidFill>
                <a:latin typeface="Inter" pitchFamily="34" charset="0"/>
                <a:ea typeface="Inter" pitchFamily="34" charset="-122"/>
                <a:cs typeface="Inter" pitchFamily="34" charset="-120"/>
              </a:rPr>
              <a:t>Main Dart code directory, containing core and feature-specific code.</a:t>
            </a:r>
            <a:endParaRPr lang="en-US" sz="1500" dirty="0"/>
          </a:p>
        </p:txBody>
      </p:sp>
      <p:sp>
        <p:nvSpPr>
          <p:cNvPr id="7" name="Shape 4"/>
          <p:cNvSpPr/>
          <p:nvPr/>
        </p:nvSpPr>
        <p:spPr>
          <a:xfrm>
            <a:off x="4865013" y="2868335"/>
            <a:ext cx="9041963" cy="11430"/>
          </a:xfrm>
          <a:prstGeom prst="roundRect">
            <a:avLst>
              <a:gd name="adj" fmla="val 708944"/>
            </a:avLst>
          </a:prstGeom>
          <a:solidFill>
            <a:srgbClr val="2A1999"/>
          </a:solidFill>
          <a:ln/>
        </p:spPr>
      </p:sp>
      <p:pic>
        <p:nvPicPr>
          <p:cNvPr id="8" name="Image 1" descr="preencoded.png">    </p:cNvPr>
          <p:cNvPicPr>
            <a:picLocks noChangeAspect="1"/>
          </p:cNvPicPr>
          <p:nvPr/>
        </p:nvPicPr>
        <p:blipFill>
          <a:blip r:embed="rId2"/>
          <a:stretch>
            <a:fillRect/>
          </a:stretch>
        </p:blipFill>
        <p:spPr>
          <a:xfrm>
            <a:off x="2351723" y="2902029"/>
            <a:ext cx="3286720" cy="1111568"/>
          </a:xfrm>
          <a:prstGeom prst="rect">
            <a:avLst/>
          </a:prstGeom>
        </p:spPr>
      </p:pic>
      <p:sp>
        <p:nvSpPr>
          <p:cNvPr id="9" name="Text 5"/>
          <p:cNvSpPr/>
          <p:nvPr/>
        </p:nvSpPr>
        <p:spPr>
          <a:xfrm>
            <a:off x="3859411" y="3288268"/>
            <a:ext cx="271224" cy="339090"/>
          </a:xfrm>
          <a:prstGeom prst="rect">
            <a:avLst/>
          </a:prstGeom>
          <a:noFill/>
          <a:ln/>
        </p:spPr>
        <p:txBody>
          <a:bodyPr wrap="none" lIns="0" tIns="0" rIns="0" bIns="0" rtlCol="0" anchor="t"/>
          <a:lstStyle/>
          <a:p>
            <a:pPr algn="ctr" indent="0" marL="0">
              <a:lnSpc>
                <a:spcPts val="3400"/>
              </a:lnSpc>
              <a:buNone/>
            </a:pPr>
            <a:r>
              <a:rPr lang="en-US" sz="2100" b="1" dirty="0">
                <a:solidFill>
                  <a:srgbClr val="E5E0DF"/>
                </a:solidFill>
                <a:latin typeface="Inter Bold" pitchFamily="34" charset="0"/>
                <a:ea typeface="Inter Bold" pitchFamily="34" charset="-122"/>
                <a:cs typeface="Inter Bold" pitchFamily="34" charset="-120"/>
              </a:rPr>
              <a:t>2</a:t>
            </a:r>
            <a:endParaRPr lang="en-US" sz="2100" dirty="0"/>
          </a:p>
        </p:txBody>
      </p:sp>
      <p:sp>
        <p:nvSpPr>
          <p:cNvPr id="10" name="Text 6"/>
          <p:cNvSpPr/>
          <p:nvPr/>
        </p:nvSpPr>
        <p:spPr>
          <a:xfrm>
            <a:off x="5831324" y="3094911"/>
            <a:ext cx="2411611" cy="301466"/>
          </a:xfrm>
          <a:prstGeom prst="rect">
            <a:avLst/>
          </a:prstGeom>
          <a:noFill/>
          <a:ln/>
        </p:spPr>
        <p:txBody>
          <a:bodyPr wrap="none" lIns="0" tIns="0" rIns="0" bIns="0" rtlCol="0" anchor="t"/>
          <a:lstStyle/>
          <a:p>
            <a:pPr algn="l" indent="0" marL="0">
              <a:lnSpc>
                <a:spcPts val="2350"/>
              </a:lnSpc>
              <a:buNone/>
            </a:pPr>
            <a:r>
              <a:rPr lang="en-US" sz="1850" b="1" dirty="0">
                <a:solidFill>
                  <a:srgbClr val="E5E0DF"/>
                </a:solidFill>
                <a:latin typeface="Inter Bold" pitchFamily="34" charset="0"/>
                <a:ea typeface="Inter Bold" pitchFamily="34" charset="-122"/>
                <a:cs typeface="Inter Bold" pitchFamily="34" charset="-120"/>
              </a:rPr>
              <a:t>features/</a:t>
            </a:r>
            <a:endParaRPr lang="en-US" sz="1850" dirty="0"/>
          </a:p>
        </p:txBody>
      </p:sp>
      <p:sp>
        <p:nvSpPr>
          <p:cNvPr id="11" name="Text 7"/>
          <p:cNvSpPr/>
          <p:nvPr/>
        </p:nvSpPr>
        <p:spPr>
          <a:xfrm>
            <a:off x="5831324" y="3512106"/>
            <a:ext cx="7529155" cy="308610"/>
          </a:xfrm>
          <a:prstGeom prst="rect">
            <a:avLst/>
          </a:prstGeom>
          <a:noFill/>
          <a:ln/>
        </p:spPr>
        <p:txBody>
          <a:bodyPr wrap="none" lIns="0" tIns="0" rIns="0" bIns="0" rtlCol="0" anchor="t"/>
          <a:lstStyle/>
          <a:p>
            <a:pPr algn="l" indent="0" marL="0">
              <a:lnSpc>
                <a:spcPts val="2400"/>
              </a:lnSpc>
              <a:buNone/>
            </a:pPr>
            <a:r>
              <a:rPr lang="en-US" sz="1500" dirty="0">
                <a:solidFill>
                  <a:srgbClr val="E5E0DF"/>
                </a:solidFill>
                <a:latin typeface="Inter" pitchFamily="34" charset="0"/>
                <a:ea typeface="Inter" pitchFamily="34" charset="-122"/>
                <a:cs typeface="Inter" pitchFamily="34" charset="-120"/>
              </a:rPr>
              <a:t>Feature-specific code, including authentication, dashboard, and welcome screens.</a:t>
            </a:r>
            <a:endParaRPr lang="en-US" sz="1500" dirty="0"/>
          </a:p>
        </p:txBody>
      </p:sp>
      <p:sp>
        <p:nvSpPr>
          <p:cNvPr id="12" name="Shape 8"/>
          <p:cNvSpPr/>
          <p:nvPr/>
        </p:nvSpPr>
        <p:spPr>
          <a:xfrm>
            <a:off x="5686663" y="4028123"/>
            <a:ext cx="8220313" cy="11430"/>
          </a:xfrm>
          <a:prstGeom prst="roundRect">
            <a:avLst>
              <a:gd name="adj" fmla="val 708944"/>
            </a:avLst>
          </a:prstGeom>
          <a:solidFill>
            <a:srgbClr val="2A1999"/>
          </a:solidFill>
          <a:ln/>
        </p:spPr>
      </p:sp>
      <p:pic>
        <p:nvPicPr>
          <p:cNvPr id="13" name="Image 2" descr="preencoded.png">    </p:cNvPr>
          <p:cNvPicPr>
            <a:picLocks noChangeAspect="1"/>
          </p:cNvPicPr>
          <p:nvPr/>
        </p:nvPicPr>
        <p:blipFill>
          <a:blip r:embed="rId3"/>
          <a:stretch>
            <a:fillRect/>
          </a:stretch>
        </p:blipFill>
        <p:spPr>
          <a:xfrm>
            <a:off x="1530072" y="4061817"/>
            <a:ext cx="4930140" cy="1111568"/>
          </a:xfrm>
          <a:prstGeom prst="rect">
            <a:avLst/>
          </a:prstGeom>
        </p:spPr>
      </p:pic>
      <p:sp>
        <p:nvSpPr>
          <p:cNvPr id="14" name="Text 9"/>
          <p:cNvSpPr/>
          <p:nvPr/>
        </p:nvSpPr>
        <p:spPr>
          <a:xfrm>
            <a:off x="3859530" y="4448056"/>
            <a:ext cx="271224" cy="339090"/>
          </a:xfrm>
          <a:prstGeom prst="rect">
            <a:avLst/>
          </a:prstGeom>
          <a:noFill/>
          <a:ln/>
        </p:spPr>
        <p:txBody>
          <a:bodyPr wrap="none" lIns="0" tIns="0" rIns="0" bIns="0" rtlCol="0" anchor="t"/>
          <a:lstStyle/>
          <a:p>
            <a:pPr algn="ctr" indent="0" marL="0">
              <a:lnSpc>
                <a:spcPts val="3400"/>
              </a:lnSpc>
              <a:buNone/>
            </a:pPr>
            <a:r>
              <a:rPr lang="en-US" sz="2100" b="1" dirty="0">
                <a:solidFill>
                  <a:srgbClr val="E5E0DF"/>
                </a:solidFill>
                <a:latin typeface="Inter Bold" pitchFamily="34" charset="0"/>
                <a:ea typeface="Inter Bold" pitchFamily="34" charset="-122"/>
                <a:cs typeface="Inter Bold" pitchFamily="34" charset="-120"/>
              </a:rPr>
              <a:t>3</a:t>
            </a:r>
            <a:endParaRPr lang="en-US" sz="2100" dirty="0"/>
          </a:p>
        </p:txBody>
      </p:sp>
      <p:sp>
        <p:nvSpPr>
          <p:cNvPr id="15" name="Text 10"/>
          <p:cNvSpPr/>
          <p:nvPr/>
        </p:nvSpPr>
        <p:spPr>
          <a:xfrm>
            <a:off x="6653093" y="4254698"/>
            <a:ext cx="2411611" cy="301466"/>
          </a:xfrm>
          <a:prstGeom prst="rect">
            <a:avLst/>
          </a:prstGeom>
          <a:noFill/>
          <a:ln/>
        </p:spPr>
        <p:txBody>
          <a:bodyPr wrap="none" lIns="0" tIns="0" rIns="0" bIns="0" rtlCol="0" anchor="t"/>
          <a:lstStyle/>
          <a:p>
            <a:pPr algn="l" indent="0" marL="0">
              <a:lnSpc>
                <a:spcPts val="2350"/>
              </a:lnSpc>
              <a:buNone/>
            </a:pPr>
            <a:r>
              <a:rPr lang="en-US" sz="1850" b="1" dirty="0">
                <a:solidFill>
                  <a:srgbClr val="E5E0DF"/>
                </a:solidFill>
                <a:latin typeface="Inter Bold" pitchFamily="34" charset="0"/>
                <a:ea typeface="Inter Bold" pitchFamily="34" charset="-122"/>
                <a:cs typeface="Inter Bold" pitchFamily="34" charset="-120"/>
              </a:rPr>
              <a:t>core/</a:t>
            </a:r>
            <a:endParaRPr lang="en-US" sz="1850" dirty="0"/>
          </a:p>
        </p:txBody>
      </p:sp>
      <p:sp>
        <p:nvSpPr>
          <p:cNvPr id="16" name="Text 11"/>
          <p:cNvSpPr/>
          <p:nvPr/>
        </p:nvSpPr>
        <p:spPr>
          <a:xfrm>
            <a:off x="6653093" y="4671893"/>
            <a:ext cx="6113740" cy="308610"/>
          </a:xfrm>
          <a:prstGeom prst="rect">
            <a:avLst/>
          </a:prstGeom>
          <a:noFill/>
          <a:ln/>
        </p:spPr>
        <p:txBody>
          <a:bodyPr wrap="none" lIns="0" tIns="0" rIns="0" bIns="0" rtlCol="0" anchor="t"/>
          <a:lstStyle/>
          <a:p>
            <a:pPr algn="l" indent="0" marL="0">
              <a:lnSpc>
                <a:spcPts val="2400"/>
              </a:lnSpc>
              <a:buNone/>
            </a:pPr>
            <a:r>
              <a:rPr lang="en-US" sz="1500" dirty="0">
                <a:solidFill>
                  <a:srgbClr val="E5E0DF"/>
                </a:solidFill>
                <a:latin typeface="Inter" pitchFamily="34" charset="0"/>
                <a:ea typeface="Inter" pitchFamily="34" charset="-122"/>
                <a:cs typeface="Inter" pitchFamily="34" charset="-120"/>
              </a:rPr>
              <a:t>Includes constants (colors), themes, utilities, and reusable widgets.</a:t>
            </a:r>
            <a:endParaRPr lang="en-US" sz="1500" dirty="0"/>
          </a:p>
        </p:txBody>
      </p:sp>
      <p:sp>
        <p:nvSpPr>
          <p:cNvPr id="17" name="Shape 12"/>
          <p:cNvSpPr/>
          <p:nvPr/>
        </p:nvSpPr>
        <p:spPr>
          <a:xfrm>
            <a:off x="6508433" y="5187910"/>
            <a:ext cx="7398544" cy="11430"/>
          </a:xfrm>
          <a:prstGeom prst="roundRect">
            <a:avLst>
              <a:gd name="adj" fmla="val 708944"/>
            </a:avLst>
          </a:prstGeom>
          <a:solidFill>
            <a:srgbClr val="2A1999"/>
          </a:solidFill>
          <a:ln/>
        </p:spPr>
      </p:sp>
      <p:pic>
        <p:nvPicPr>
          <p:cNvPr id="18" name="Image 3" descr="preencoded.png">    </p:cNvPr>
          <p:cNvPicPr>
            <a:picLocks noChangeAspect="1"/>
          </p:cNvPicPr>
          <p:nvPr/>
        </p:nvPicPr>
        <p:blipFill>
          <a:blip r:embed="rId4"/>
          <a:stretch>
            <a:fillRect/>
          </a:stretch>
        </p:blipFill>
        <p:spPr>
          <a:xfrm>
            <a:off x="708303" y="5221605"/>
            <a:ext cx="6573560" cy="1111568"/>
          </a:xfrm>
          <a:prstGeom prst="rect">
            <a:avLst/>
          </a:prstGeom>
        </p:spPr>
      </p:pic>
      <p:sp>
        <p:nvSpPr>
          <p:cNvPr id="19" name="Text 13"/>
          <p:cNvSpPr/>
          <p:nvPr/>
        </p:nvSpPr>
        <p:spPr>
          <a:xfrm>
            <a:off x="3859411" y="5607844"/>
            <a:ext cx="271224" cy="339090"/>
          </a:xfrm>
          <a:prstGeom prst="rect">
            <a:avLst/>
          </a:prstGeom>
          <a:noFill/>
          <a:ln/>
        </p:spPr>
        <p:txBody>
          <a:bodyPr wrap="none" lIns="0" tIns="0" rIns="0" bIns="0" rtlCol="0" anchor="t"/>
          <a:lstStyle/>
          <a:p>
            <a:pPr algn="ctr" indent="0" marL="0">
              <a:lnSpc>
                <a:spcPts val="3400"/>
              </a:lnSpc>
              <a:buNone/>
            </a:pPr>
            <a:r>
              <a:rPr lang="en-US" sz="2100" b="1" dirty="0">
                <a:solidFill>
                  <a:srgbClr val="E5E0DF"/>
                </a:solidFill>
                <a:latin typeface="Inter Bold" pitchFamily="34" charset="0"/>
                <a:ea typeface="Inter Bold" pitchFamily="34" charset="-122"/>
                <a:cs typeface="Inter Bold" pitchFamily="34" charset="-120"/>
              </a:rPr>
              <a:t>4</a:t>
            </a:r>
            <a:endParaRPr lang="en-US" sz="2100" dirty="0"/>
          </a:p>
        </p:txBody>
      </p:sp>
      <p:sp>
        <p:nvSpPr>
          <p:cNvPr id="20" name="Text 14"/>
          <p:cNvSpPr/>
          <p:nvPr/>
        </p:nvSpPr>
        <p:spPr>
          <a:xfrm>
            <a:off x="7474744" y="5414486"/>
            <a:ext cx="2411611" cy="301466"/>
          </a:xfrm>
          <a:prstGeom prst="rect">
            <a:avLst/>
          </a:prstGeom>
          <a:noFill/>
          <a:ln/>
        </p:spPr>
        <p:txBody>
          <a:bodyPr wrap="none" lIns="0" tIns="0" rIns="0" bIns="0" rtlCol="0" anchor="t"/>
          <a:lstStyle/>
          <a:p>
            <a:pPr algn="l" indent="0" marL="0">
              <a:lnSpc>
                <a:spcPts val="2350"/>
              </a:lnSpc>
              <a:buNone/>
            </a:pPr>
            <a:r>
              <a:rPr lang="en-US" sz="1850" b="1" dirty="0">
                <a:solidFill>
                  <a:srgbClr val="E5E0DF"/>
                </a:solidFill>
                <a:latin typeface="Inter Bold" pitchFamily="34" charset="0"/>
                <a:ea typeface="Inter Bold" pitchFamily="34" charset="-122"/>
                <a:cs typeface="Inter Bold" pitchFamily="34" charset="-120"/>
              </a:rPr>
              <a:t>android/</a:t>
            </a:r>
            <a:endParaRPr lang="en-US" sz="1850" dirty="0"/>
          </a:p>
        </p:txBody>
      </p:sp>
      <p:sp>
        <p:nvSpPr>
          <p:cNvPr id="21" name="Text 15"/>
          <p:cNvSpPr/>
          <p:nvPr/>
        </p:nvSpPr>
        <p:spPr>
          <a:xfrm>
            <a:off x="7474744" y="5831681"/>
            <a:ext cx="5510570" cy="308610"/>
          </a:xfrm>
          <a:prstGeom prst="rect">
            <a:avLst/>
          </a:prstGeom>
          <a:noFill/>
          <a:ln/>
        </p:spPr>
        <p:txBody>
          <a:bodyPr wrap="none" lIns="0" tIns="0" rIns="0" bIns="0" rtlCol="0" anchor="t"/>
          <a:lstStyle/>
          <a:p>
            <a:pPr algn="l" indent="0" marL="0">
              <a:lnSpc>
                <a:spcPts val="2400"/>
              </a:lnSpc>
              <a:buNone/>
            </a:pPr>
            <a:r>
              <a:rPr lang="en-US" sz="1500" dirty="0">
                <a:solidFill>
                  <a:srgbClr val="E5E0DF"/>
                </a:solidFill>
                <a:latin typeface="Inter" pitchFamily="34" charset="0"/>
                <a:ea typeface="Inter" pitchFamily="34" charset="-122"/>
                <a:cs typeface="Inter" pitchFamily="34" charset="-120"/>
              </a:rPr>
              <a:t>Android-specific configurations, permissions, and metadata.</a:t>
            </a:r>
            <a:endParaRPr lang="en-US" sz="1500" dirty="0"/>
          </a:p>
        </p:txBody>
      </p:sp>
      <p:sp>
        <p:nvSpPr>
          <p:cNvPr id="22" name="Text 16"/>
          <p:cNvSpPr/>
          <p:nvPr/>
        </p:nvSpPr>
        <p:spPr>
          <a:xfrm>
            <a:off x="675203" y="6550104"/>
            <a:ext cx="13279993" cy="925830"/>
          </a:xfrm>
          <a:prstGeom prst="rect">
            <a:avLst/>
          </a:prstGeom>
          <a:noFill/>
          <a:ln/>
        </p:spPr>
        <p:txBody>
          <a:bodyPr wrap="square" lIns="0" tIns="0" rIns="0" bIns="0" rtlCol="0" anchor="t"/>
          <a:lstStyle/>
          <a:p>
            <a:pPr algn="l" indent="0" marL="0">
              <a:lnSpc>
                <a:spcPts val="2400"/>
              </a:lnSpc>
              <a:buNone/>
            </a:pPr>
            <a:r>
              <a:rPr lang="en-US" sz="1500" dirty="0">
                <a:solidFill>
                  <a:srgbClr val="E5E0DF"/>
                </a:solidFill>
                <a:latin typeface="Inter" pitchFamily="34" charset="0"/>
                <a:ea typeface="Inter" pitchFamily="34" charset="-122"/>
                <a:cs typeface="Inter" pitchFamily="34" charset="-120"/>
              </a:rPr>
              <a:t>The AttendEase project follows a well-defined folder structure in VSCode to ensure modularity and maintainability. The </a:t>
            </a:r>
            <a:pPr algn="l" indent="0" marL="0">
              <a:lnSpc>
                <a:spcPts val="2400"/>
              </a:lnSpc>
              <a:buNone/>
            </a:pPr>
            <a:r>
              <a:rPr lang="en-US" sz="1500" b="1" dirty="0">
                <a:solidFill>
                  <a:srgbClr val="E5E0DF"/>
                </a:solidFill>
                <a:latin typeface="Inter" pitchFamily="34" charset="0"/>
                <a:ea typeface="Inter" pitchFamily="34" charset="-122"/>
                <a:cs typeface="Inter" pitchFamily="34" charset="-120"/>
              </a:rPr>
              <a:t>lib/</a:t>
            </a:r>
            <a:pPr algn="l" indent="0" marL="0">
              <a:lnSpc>
                <a:spcPts val="2400"/>
              </a:lnSpc>
              <a:buNone/>
            </a:pPr>
            <a:r>
              <a:rPr lang="en-US" sz="1500" dirty="0">
                <a:solidFill>
                  <a:srgbClr val="E5E0DF"/>
                </a:solidFill>
                <a:latin typeface="Inter" pitchFamily="34" charset="0"/>
                <a:ea typeface="Inter" pitchFamily="34" charset="-122"/>
                <a:cs typeface="Inter" pitchFamily="34" charset="-120"/>
              </a:rPr>
              <a:t> directory is the heart of the Dart code, housing both core components and feature-specific modules. This organization facilitates efficient development and future scalability.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1743"/>
          </a:xfrm>
          <a:prstGeom prst="rect">
            <a:avLst/>
          </a:prstGeom>
        </p:spPr>
      </p:pic>
      <p:sp>
        <p:nvSpPr>
          <p:cNvPr id="3" name="Text 0"/>
          <p:cNvSpPr/>
          <p:nvPr/>
        </p:nvSpPr>
        <p:spPr>
          <a:xfrm>
            <a:off x="6209586" y="568166"/>
            <a:ext cx="7697629" cy="1291352"/>
          </a:xfrm>
          <a:prstGeom prst="rect">
            <a:avLst/>
          </a:prstGeom>
          <a:noFill/>
          <a:ln/>
        </p:spPr>
        <p:txBody>
          <a:bodyPr wrap="square" lIns="0" tIns="0" rIns="0" bIns="0" rtlCol="0" anchor="t"/>
          <a:lstStyle/>
          <a:p>
            <a:pPr algn="l" indent="0" marL="0">
              <a:lnSpc>
                <a:spcPts val="5050"/>
              </a:lnSpc>
              <a:buNone/>
            </a:pPr>
            <a:r>
              <a:rPr lang="en-US" sz="4050" b="1" dirty="0">
                <a:solidFill>
                  <a:srgbClr val="FFFFFF"/>
                </a:solidFill>
                <a:latin typeface="Inter Bold" pitchFamily="34" charset="0"/>
                <a:ea typeface="Inter Bold" pitchFamily="34" charset="-122"/>
                <a:cs typeface="Inter Bold" pitchFamily="34" charset="-120"/>
              </a:rPr>
              <a:t>Key Software Tools and Functions</a:t>
            </a:r>
            <a:endParaRPr lang="en-US" sz="4050" dirty="0"/>
          </a:p>
        </p:txBody>
      </p:sp>
      <p:sp>
        <p:nvSpPr>
          <p:cNvPr id="4" name="Shape 1"/>
          <p:cNvSpPr/>
          <p:nvPr/>
        </p:nvSpPr>
        <p:spPr>
          <a:xfrm>
            <a:off x="6209586" y="2169438"/>
            <a:ext cx="7697629" cy="5494139"/>
          </a:xfrm>
          <a:prstGeom prst="roundRect">
            <a:avLst>
              <a:gd name="adj" fmla="val 1580"/>
            </a:avLst>
          </a:prstGeom>
          <a:noFill/>
          <a:ln w="7620">
            <a:solidFill>
              <a:srgbClr val="FFFFFF">
                <a:alpha val="24000"/>
              </a:srgbClr>
            </a:solidFill>
            <a:prstDash val="solid"/>
          </a:ln>
        </p:spPr>
      </p:sp>
      <p:sp>
        <p:nvSpPr>
          <p:cNvPr id="5" name="Shape 2"/>
          <p:cNvSpPr/>
          <p:nvPr/>
        </p:nvSpPr>
        <p:spPr>
          <a:xfrm>
            <a:off x="6217206" y="2177058"/>
            <a:ext cx="7682389" cy="924401"/>
          </a:xfrm>
          <a:prstGeom prst="rect">
            <a:avLst/>
          </a:prstGeom>
          <a:solidFill>
            <a:srgbClr val="FFFFFF">
              <a:alpha val="4000"/>
            </a:srgbClr>
          </a:solidFill>
          <a:ln/>
        </p:spPr>
      </p:sp>
      <p:sp>
        <p:nvSpPr>
          <p:cNvPr id="6" name="Text 3"/>
          <p:cNvSpPr/>
          <p:nvPr/>
        </p:nvSpPr>
        <p:spPr>
          <a:xfrm>
            <a:off x="6423779" y="2308622"/>
            <a:ext cx="3424238" cy="33063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Figma</a:t>
            </a:r>
            <a:endParaRPr lang="en-US" sz="1600" dirty="0"/>
          </a:p>
        </p:txBody>
      </p:sp>
      <p:sp>
        <p:nvSpPr>
          <p:cNvPr id="7" name="Text 4"/>
          <p:cNvSpPr/>
          <p:nvPr/>
        </p:nvSpPr>
        <p:spPr>
          <a:xfrm>
            <a:off x="10268783" y="2308622"/>
            <a:ext cx="3424238" cy="661273"/>
          </a:xfrm>
          <a:prstGeom prst="rect">
            <a:avLst/>
          </a:prstGeom>
          <a:noFill/>
          <a:ln/>
        </p:spPr>
        <p:txBody>
          <a:bodyPr wrap="squar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UI/UX design, high-fidelity mockups, prototypes</a:t>
            </a:r>
            <a:endParaRPr lang="en-US" sz="1600" dirty="0"/>
          </a:p>
        </p:txBody>
      </p:sp>
      <p:sp>
        <p:nvSpPr>
          <p:cNvPr id="8" name="Shape 5"/>
          <p:cNvSpPr/>
          <p:nvPr/>
        </p:nvSpPr>
        <p:spPr>
          <a:xfrm>
            <a:off x="6217206" y="3101459"/>
            <a:ext cx="7682389" cy="924401"/>
          </a:xfrm>
          <a:prstGeom prst="rect">
            <a:avLst/>
          </a:prstGeom>
          <a:solidFill>
            <a:srgbClr val="000000">
              <a:alpha val="4000"/>
            </a:srgbClr>
          </a:solidFill>
          <a:ln/>
        </p:spPr>
      </p:sp>
      <p:sp>
        <p:nvSpPr>
          <p:cNvPr id="9" name="Text 6"/>
          <p:cNvSpPr/>
          <p:nvPr/>
        </p:nvSpPr>
        <p:spPr>
          <a:xfrm>
            <a:off x="6423779" y="3233023"/>
            <a:ext cx="3424238" cy="33063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Flutter</a:t>
            </a:r>
            <a:endParaRPr lang="en-US" sz="1600" dirty="0"/>
          </a:p>
        </p:txBody>
      </p:sp>
      <p:sp>
        <p:nvSpPr>
          <p:cNvPr id="10" name="Text 7"/>
          <p:cNvSpPr/>
          <p:nvPr/>
        </p:nvSpPr>
        <p:spPr>
          <a:xfrm>
            <a:off x="10268783" y="3233023"/>
            <a:ext cx="3424238" cy="661273"/>
          </a:xfrm>
          <a:prstGeom prst="rect">
            <a:avLst/>
          </a:prstGeom>
          <a:noFill/>
          <a:ln/>
        </p:spPr>
        <p:txBody>
          <a:bodyPr wrap="squar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Cross-platform app development framework</a:t>
            </a:r>
            <a:endParaRPr lang="en-US" sz="1600" dirty="0"/>
          </a:p>
        </p:txBody>
      </p:sp>
      <p:sp>
        <p:nvSpPr>
          <p:cNvPr id="11" name="Shape 8"/>
          <p:cNvSpPr/>
          <p:nvPr/>
        </p:nvSpPr>
        <p:spPr>
          <a:xfrm>
            <a:off x="6217206" y="4025860"/>
            <a:ext cx="7682389" cy="924401"/>
          </a:xfrm>
          <a:prstGeom prst="rect">
            <a:avLst/>
          </a:prstGeom>
          <a:solidFill>
            <a:srgbClr val="FFFFFF">
              <a:alpha val="4000"/>
            </a:srgbClr>
          </a:solidFill>
          <a:ln/>
        </p:spPr>
      </p:sp>
      <p:sp>
        <p:nvSpPr>
          <p:cNvPr id="12" name="Text 9"/>
          <p:cNvSpPr/>
          <p:nvPr/>
        </p:nvSpPr>
        <p:spPr>
          <a:xfrm>
            <a:off x="6423779" y="4157424"/>
            <a:ext cx="3424238" cy="33063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Dart</a:t>
            </a:r>
            <a:endParaRPr lang="en-US" sz="1600" dirty="0"/>
          </a:p>
        </p:txBody>
      </p:sp>
      <p:sp>
        <p:nvSpPr>
          <p:cNvPr id="13" name="Text 10"/>
          <p:cNvSpPr/>
          <p:nvPr/>
        </p:nvSpPr>
        <p:spPr>
          <a:xfrm>
            <a:off x="10268783" y="4157424"/>
            <a:ext cx="3424238" cy="661273"/>
          </a:xfrm>
          <a:prstGeom prst="rect">
            <a:avLst/>
          </a:prstGeom>
          <a:noFill/>
          <a:ln/>
        </p:spPr>
        <p:txBody>
          <a:bodyPr wrap="squar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Programming language for app logic and UI</a:t>
            </a:r>
            <a:endParaRPr lang="en-US" sz="1600" dirty="0"/>
          </a:p>
        </p:txBody>
      </p:sp>
      <p:sp>
        <p:nvSpPr>
          <p:cNvPr id="14" name="Shape 11"/>
          <p:cNvSpPr/>
          <p:nvPr/>
        </p:nvSpPr>
        <p:spPr>
          <a:xfrm>
            <a:off x="6217206" y="4950262"/>
            <a:ext cx="7682389" cy="924401"/>
          </a:xfrm>
          <a:prstGeom prst="rect">
            <a:avLst/>
          </a:prstGeom>
          <a:solidFill>
            <a:srgbClr val="000000">
              <a:alpha val="4000"/>
            </a:srgbClr>
          </a:solidFill>
          <a:ln/>
        </p:spPr>
      </p:sp>
      <p:sp>
        <p:nvSpPr>
          <p:cNvPr id="15" name="Text 12"/>
          <p:cNvSpPr/>
          <p:nvPr/>
        </p:nvSpPr>
        <p:spPr>
          <a:xfrm>
            <a:off x="6423779" y="5081826"/>
            <a:ext cx="3424238" cy="33063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Visual Studio Code</a:t>
            </a:r>
            <a:endParaRPr lang="en-US" sz="1600" dirty="0"/>
          </a:p>
        </p:txBody>
      </p:sp>
      <p:sp>
        <p:nvSpPr>
          <p:cNvPr id="16" name="Text 13"/>
          <p:cNvSpPr/>
          <p:nvPr/>
        </p:nvSpPr>
        <p:spPr>
          <a:xfrm>
            <a:off x="10268783" y="5081826"/>
            <a:ext cx="3424238" cy="661273"/>
          </a:xfrm>
          <a:prstGeom prst="rect">
            <a:avLst/>
          </a:prstGeom>
          <a:noFill/>
          <a:ln/>
        </p:spPr>
        <p:txBody>
          <a:bodyPr wrap="squar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Code editor for writing and debugging</a:t>
            </a:r>
            <a:endParaRPr lang="en-US" sz="1600" dirty="0"/>
          </a:p>
        </p:txBody>
      </p:sp>
      <p:sp>
        <p:nvSpPr>
          <p:cNvPr id="17" name="Shape 14"/>
          <p:cNvSpPr/>
          <p:nvPr/>
        </p:nvSpPr>
        <p:spPr>
          <a:xfrm>
            <a:off x="6217206" y="5874663"/>
            <a:ext cx="7682389" cy="593765"/>
          </a:xfrm>
          <a:prstGeom prst="rect">
            <a:avLst/>
          </a:prstGeom>
          <a:solidFill>
            <a:srgbClr val="FFFFFF">
              <a:alpha val="4000"/>
            </a:srgbClr>
          </a:solidFill>
          <a:ln/>
        </p:spPr>
      </p:sp>
      <p:sp>
        <p:nvSpPr>
          <p:cNvPr id="18" name="Text 15"/>
          <p:cNvSpPr/>
          <p:nvPr/>
        </p:nvSpPr>
        <p:spPr>
          <a:xfrm>
            <a:off x="6423779" y="6006227"/>
            <a:ext cx="3424238" cy="33063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Android Emulator</a:t>
            </a:r>
            <a:endParaRPr lang="en-US" sz="1600" dirty="0"/>
          </a:p>
        </p:txBody>
      </p:sp>
      <p:sp>
        <p:nvSpPr>
          <p:cNvPr id="19" name="Text 16"/>
          <p:cNvSpPr/>
          <p:nvPr/>
        </p:nvSpPr>
        <p:spPr>
          <a:xfrm>
            <a:off x="10268783" y="6006227"/>
            <a:ext cx="3424238" cy="33063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Simulated device for app testing</a:t>
            </a:r>
            <a:endParaRPr lang="en-US" sz="1600" dirty="0"/>
          </a:p>
        </p:txBody>
      </p:sp>
      <p:sp>
        <p:nvSpPr>
          <p:cNvPr id="20" name="Shape 17"/>
          <p:cNvSpPr/>
          <p:nvPr/>
        </p:nvSpPr>
        <p:spPr>
          <a:xfrm>
            <a:off x="6217206" y="6468428"/>
            <a:ext cx="7682389" cy="593765"/>
          </a:xfrm>
          <a:prstGeom prst="rect">
            <a:avLst/>
          </a:prstGeom>
          <a:solidFill>
            <a:srgbClr val="000000">
              <a:alpha val="4000"/>
            </a:srgbClr>
          </a:solidFill>
          <a:ln/>
        </p:spPr>
      </p:sp>
      <p:sp>
        <p:nvSpPr>
          <p:cNvPr id="21" name="Text 18"/>
          <p:cNvSpPr/>
          <p:nvPr/>
        </p:nvSpPr>
        <p:spPr>
          <a:xfrm>
            <a:off x="6423779" y="6599992"/>
            <a:ext cx="3424238" cy="33063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Lottie</a:t>
            </a:r>
            <a:endParaRPr lang="en-US" sz="1600" dirty="0"/>
          </a:p>
        </p:txBody>
      </p:sp>
      <p:sp>
        <p:nvSpPr>
          <p:cNvPr id="22" name="Text 19"/>
          <p:cNvSpPr/>
          <p:nvPr/>
        </p:nvSpPr>
        <p:spPr>
          <a:xfrm>
            <a:off x="10268783" y="6599992"/>
            <a:ext cx="3424238" cy="33063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Library for animations</a:t>
            </a:r>
            <a:endParaRPr lang="en-US" sz="1600" dirty="0"/>
          </a:p>
        </p:txBody>
      </p:sp>
      <p:sp>
        <p:nvSpPr>
          <p:cNvPr id="23" name="Shape 20"/>
          <p:cNvSpPr/>
          <p:nvPr/>
        </p:nvSpPr>
        <p:spPr>
          <a:xfrm>
            <a:off x="6217206" y="7062192"/>
            <a:ext cx="7682389" cy="593765"/>
          </a:xfrm>
          <a:prstGeom prst="rect">
            <a:avLst/>
          </a:prstGeom>
          <a:solidFill>
            <a:srgbClr val="FFFFFF">
              <a:alpha val="4000"/>
            </a:srgbClr>
          </a:solidFill>
          <a:ln/>
        </p:spPr>
      </p:sp>
      <p:sp>
        <p:nvSpPr>
          <p:cNvPr id="24" name="Text 21"/>
          <p:cNvSpPr/>
          <p:nvPr/>
        </p:nvSpPr>
        <p:spPr>
          <a:xfrm>
            <a:off x="6423779" y="7193756"/>
            <a:ext cx="3424238" cy="33063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Pin Code Fields</a:t>
            </a:r>
            <a:endParaRPr lang="en-US" sz="1600" dirty="0"/>
          </a:p>
        </p:txBody>
      </p:sp>
      <p:sp>
        <p:nvSpPr>
          <p:cNvPr id="25" name="Text 22"/>
          <p:cNvSpPr/>
          <p:nvPr/>
        </p:nvSpPr>
        <p:spPr>
          <a:xfrm>
            <a:off x="10268783" y="7193756"/>
            <a:ext cx="3424238" cy="330637"/>
          </a:xfrm>
          <a:prstGeom prst="rect">
            <a:avLst/>
          </a:prstGeom>
          <a:noFill/>
          <a:ln/>
        </p:spPr>
        <p:txBody>
          <a:bodyPr wrap="none" lIns="0" tIns="0" rIns="0" bIns="0" rtlCol="0" anchor="t"/>
          <a:lstStyle/>
          <a:p>
            <a:pPr algn="l" indent="0" marL="0">
              <a:lnSpc>
                <a:spcPts val="2600"/>
              </a:lnSpc>
              <a:buNone/>
            </a:pPr>
            <a:r>
              <a:rPr lang="en-US" sz="1600" dirty="0">
                <a:solidFill>
                  <a:srgbClr val="E5E0DF"/>
                </a:solidFill>
                <a:latin typeface="Inter" pitchFamily="34" charset="0"/>
                <a:ea typeface="Inter" pitchFamily="34" charset="-122"/>
                <a:cs typeface="Inter" pitchFamily="34" charset="-120"/>
              </a:rPr>
              <a:t>Flutter package for OTP input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708422"/>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FFFFFF"/>
                </a:solidFill>
                <a:latin typeface="Inter Bold" pitchFamily="34" charset="0"/>
                <a:ea typeface="Inter Bold" pitchFamily="34" charset="-122"/>
                <a:cs typeface="Inter Bold" pitchFamily="34" charset="-120"/>
              </a:rPr>
              <a:t>Conclusion and Future Enhancements</a:t>
            </a:r>
            <a:endParaRPr lang="en-US" sz="4450" dirty="0"/>
          </a:p>
        </p:txBody>
      </p:sp>
      <p:sp>
        <p:nvSpPr>
          <p:cNvPr id="4" name="Shape 1"/>
          <p:cNvSpPr/>
          <p:nvPr/>
        </p:nvSpPr>
        <p:spPr>
          <a:xfrm>
            <a:off x="793790" y="2466142"/>
            <a:ext cx="170021" cy="1216223"/>
          </a:xfrm>
          <a:prstGeom prst="roundRect">
            <a:avLst>
              <a:gd name="adj" fmla="val 56033"/>
            </a:avLst>
          </a:prstGeom>
          <a:solidFill>
            <a:srgbClr val="110080"/>
          </a:solidFill>
          <a:ln w="7620">
            <a:solidFill>
              <a:srgbClr val="2A1999"/>
            </a:solidFill>
            <a:prstDash val="solid"/>
          </a:ln>
        </p:spPr>
      </p:sp>
      <p:sp>
        <p:nvSpPr>
          <p:cNvPr id="5" name="Text 2"/>
          <p:cNvSpPr/>
          <p:nvPr/>
        </p:nvSpPr>
        <p:spPr>
          <a:xfrm>
            <a:off x="1303973" y="246614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Successful Delivery</a:t>
            </a:r>
            <a:endParaRPr lang="en-US" sz="2200" dirty="0"/>
          </a:p>
        </p:txBody>
      </p:sp>
      <p:sp>
        <p:nvSpPr>
          <p:cNvPr id="6" name="Text 3"/>
          <p:cNvSpPr/>
          <p:nvPr/>
        </p:nvSpPr>
        <p:spPr>
          <a:xfrm>
            <a:off x="1303973" y="2956560"/>
            <a:ext cx="7046238" cy="72580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AttendEase offers a modern attendance solution with cohesive branding, thoughtful design, and robust frontend implementation.</a:t>
            </a:r>
            <a:endParaRPr lang="en-US" sz="1750" dirty="0"/>
          </a:p>
        </p:txBody>
      </p:sp>
      <p:sp>
        <p:nvSpPr>
          <p:cNvPr id="7" name="Shape 4"/>
          <p:cNvSpPr/>
          <p:nvPr/>
        </p:nvSpPr>
        <p:spPr>
          <a:xfrm>
            <a:off x="1133951" y="3909179"/>
            <a:ext cx="170021" cy="1579126"/>
          </a:xfrm>
          <a:prstGeom prst="roundRect">
            <a:avLst>
              <a:gd name="adj" fmla="val 56033"/>
            </a:avLst>
          </a:prstGeom>
          <a:solidFill>
            <a:srgbClr val="110080"/>
          </a:solidFill>
          <a:ln w="7620">
            <a:solidFill>
              <a:srgbClr val="2A1999"/>
            </a:solidFill>
            <a:prstDash val="solid"/>
          </a:ln>
        </p:spPr>
      </p:sp>
      <p:sp>
        <p:nvSpPr>
          <p:cNvPr id="8" name="Text 5"/>
          <p:cNvSpPr/>
          <p:nvPr/>
        </p:nvSpPr>
        <p:spPr>
          <a:xfrm>
            <a:off x="1644134" y="3909179"/>
            <a:ext cx="3575804" cy="354330"/>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Streamlined Development</a:t>
            </a:r>
            <a:endParaRPr lang="en-US" sz="2200" dirty="0"/>
          </a:p>
        </p:txBody>
      </p:sp>
      <p:sp>
        <p:nvSpPr>
          <p:cNvPr id="9" name="Text 6"/>
          <p:cNvSpPr/>
          <p:nvPr/>
        </p:nvSpPr>
        <p:spPr>
          <a:xfrm>
            <a:off x="1644134" y="4399598"/>
            <a:ext cx="6706076" cy="1088708"/>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Figma enabled efficient design, while Flutter ensured effective cross-platform development and thorough testing via Android emulator.</a:t>
            </a:r>
            <a:endParaRPr lang="en-US" sz="1750" dirty="0"/>
          </a:p>
        </p:txBody>
      </p:sp>
      <p:sp>
        <p:nvSpPr>
          <p:cNvPr id="10" name="Shape 7"/>
          <p:cNvSpPr/>
          <p:nvPr/>
        </p:nvSpPr>
        <p:spPr>
          <a:xfrm>
            <a:off x="1474232" y="5715119"/>
            <a:ext cx="170021" cy="1579126"/>
          </a:xfrm>
          <a:prstGeom prst="roundRect">
            <a:avLst>
              <a:gd name="adj" fmla="val 56033"/>
            </a:avLst>
          </a:prstGeom>
          <a:solidFill>
            <a:srgbClr val="110080"/>
          </a:solidFill>
          <a:ln w="7620">
            <a:solidFill>
              <a:srgbClr val="2A1999"/>
            </a:solidFill>
            <a:prstDash val="solid"/>
          </a:ln>
        </p:spPr>
      </p:sp>
      <p:sp>
        <p:nvSpPr>
          <p:cNvPr id="11" name="Text 8"/>
          <p:cNvSpPr/>
          <p:nvPr/>
        </p:nvSpPr>
        <p:spPr>
          <a:xfrm>
            <a:off x="1984415" y="5715119"/>
            <a:ext cx="3066098" cy="354330"/>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Future Considerations</a:t>
            </a:r>
            <a:endParaRPr lang="en-US" sz="2200" dirty="0"/>
          </a:p>
        </p:txBody>
      </p:sp>
      <p:sp>
        <p:nvSpPr>
          <p:cNvPr id="12" name="Text 9"/>
          <p:cNvSpPr/>
          <p:nvPr/>
        </p:nvSpPr>
        <p:spPr>
          <a:xfrm>
            <a:off x="1984415" y="6205538"/>
            <a:ext cx="6365796" cy="1088708"/>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Integrate actual API calls, add iOS-specific testing, and implement advanced geofencing algorithms for enhanced functionality.</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2025-06-02T18:04:39Z</dcterms:created>
  <dcterms:modified xsi:type="dcterms:W3CDTF">2025-06-02T18:04:39Z</dcterms:modified>
</cp:coreProperties>
</file>